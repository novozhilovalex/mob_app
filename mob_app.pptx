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81" r:id="rId3"/>
    <p:sldId id="278" r:id="rId4"/>
    <p:sldId id="279" r:id="rId5"/>
    <p:sldId id="277" r:id="rId6"/>
    <p:sldId id="280" r:id="rId7"/>
    <p:sldId id="268" r:id="rId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66FF66"/>
    <a:srgbClr val="7FF1FD"/>
    <a:srgbClr val="D0EBFE"/>
    <a:srgbClr val="04CDD2"/>
    <a:srgbClr val="08B4D6"/>
    <a:srgbClr val="09C2E7"/>
    <a:srgbClr val="18D6F0"/>
    <a:srgbClr val="33BCF9"/>
    <a:srgbClr val="FFB3B3"/>
    <a:srgbClr val="DEF6E4"/>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p:cViewPr>
        <p:scale>
          <a:sx n="100" d="100"/>
          <a:sy n="100" d="100"/>
        </p:scale>
        <p:origin x="-990" y="-3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14BEA0-AC58-44A1-94DF-C3D36E4E02B3}" type="datetimeFigureOut">
              <a:rPr lang="ru-RU" smtClean="0"/>
              <a:pPr/>
              <a:t>13.04.2026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DCC69E-B513-4E60-AF30-2F72B8CE585D}" type="slidenum">
              <a:rPr lang="ru-RU" smtClean="0"/>
              <a:pPr/>
              <a:t>‹#›</a:t>
            </a:fld>
            <a:endParaRPr lang="ru-RU"/>
          </a:p>
        </p:txBody>
      </p:sp>
    </p:spTree>
    <p:extLst>
      <p:ext uri="{BB962C8B-B14F-4D97-AF65-F5344CB8AC3E}">
        <p14:creationId xmlns="" xmlns:p14="http://schemas.microsoft.com/office/powerpoint/2010/main" val="2956157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65DCC69E-B513-4E60-AF30-2F72B8CE585D}" type="slidenum">
              <a:rPr lang="ru-RU" smtClean="0"/>
              <a:pPr/>
              <a:t>2</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65DCC69E-B513-4E60-AF30-2F72B8CE585D}" type="slidenum">
              <a:rPr lang="ru-RU" smtClean="0"/>
              <a:pPr/>
              <a:t>5</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65DCC69E-B513-4E60-AF30-2F72B8CE585D}" type="slidenum">
              <a:rPr lang="ru-RU" smtClean="0"/>
              <a:pPr/>
              <a:t>6</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3C14474A-92FD-B7A2-02B8-56EF8C58C33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 xmlns:a16="http://schemas.microsoft.com/office/drawing/2014/main" id="{8FB07F4F-E24C-7A66-1F9B-880628C06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 xmlns:a16="http://schemas.microsoft.com/office/drawing/2014/main" id="{ECEA6A1F-BB18-05DC-A099-908BE842FBCB}"/>
              </a:ext>
            </a:extLst>
          </p:cNvPr>
          <p:cNvSpPr>
            <a:spLocks noGrp="1"/>
          </p:cNvSpPr>
          <p:nvPr>
            <p:ph type="dt" sz="half" idx="10"/>
          </p:nvPr>
        </p:nvSpPr>
        <p:spPr/>
        <p:txBody>
          <a:bodyPr/>
          <a:lstStyle/>
          <a:p>
            <a:fld id="{1019082D-639F-4B36-8C47-4276398154C1}" type="datetime1">
              <a:rPr lang="ru-RU" smtClean="0"/>
              <a:pPr/>
              <a:t>13.04.2026</a:t>
            </a:fld>
            <a:endParaRPr lang="ru-RU"/>
          </a:p>
        </p:txBody>
      </p:sp>
      <p:sp>
        <p:nvSpPr>
          <p:cNvPr id="5" name="Нижний колонтитул 4">
            <a:extLst>
              <a:ext uri="{FF2B5EF4-FFF2-40B4-BE49-F238E27FC236}">
                <a16:creationId xmlns="" xmlns:a16="http://schemas.microsoft.com/office/drawing/2014/main" id="{66276D54-E737-69E8-690F-08077DF20A1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 xmlns:a16="http://schemas.microsoft.com/office/drawing/2014/main" id="{1B17D21E-A85A-A261-48D9-1428F4DFF593}"/>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3309833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25402F1E-8C95-0CCB-CC13-39CB731C56B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AE170897-BC0F-C774-65FD-121DFEB950B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680082A4-255D-B52D-61C9-86FE0916602F}"/>
              </a:ext>
            </a:extLst>
          </p:cNvPr>
          <p:cNvSpPr>
            <a:spLocks noGrp="1"/>
          </p:cNvSpPr>
          <p:nvPr>
            <p:ph type="dt" sz="half" idx="10"/>
          </p:nvPr>
        </p:nvSpPr>
        <p:spPr/>
        <p:txBody>
          <a:bodyPr/>
          <a:lstStyle/>
          <a:p>
            <a:fld id="{093D635A-8626-433E-B407-00207C7603B1}" type="datetime1">
              <a:rPr lang="ru-RU" smtClean="0"/>
              <a:pPr/>
              <a:t>13.04.2026</a:t>
            </a:fld>
            <a:endParaRPr lang="ru-RU"/>
          </a:p>
        </p:txBody>
      </p:sp>
      <p:sp>
        <p:nvSpPr>
          <p:cNvPr id="5" name="Нижний колонтитул 4">
            <a:extLst>
              <a:ext uri="{FF2B5EF4-FFF2-40B4-BE49-F238E27FC236}">
                <a16:creationId xmlns="" xmlns:a16="http://schemas.microsoft.com/office/drawing/2014/main" id="{F78FE14D-E7F1-5F37-ABE1-EB12E6DCE18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 xmlns:a16="http://schemas.microsoft.com/office/drawing/2014/main" id="{B3DF7B7F-8243-C6FC-4C7E-6DF56C1CF2B3}"/>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469511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D92D50AA-39F6-0882-836E-EF922FC30215}"/>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 xmlns:a16="http://schemas.microsoft.com/office/drawing/2014/main" id="{EE55D1F8-A0A8-BC24-45DA-2B59079DA4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 xmlns:a16="http://schemas.microsoft.com/office/drawing/2014/main" id="{CB9DDF39-A8C3-E5CB-4679-15C7F248FACE}"/>
              </a:ext>
            </a:extLst>
          </p:cNvPr>
          <p:cNvSpPr>
            <a:spLocks noGrp="1"/>
          </p:cNvSpPr>
          <p:nvPr>
            <p:ph type="dt" sz="half" idx="10"/>
          </p:nvPr>
        </p:nvSpPr>
        <p:spPr/>
        <p:txBody>
          <a:bodyPr/>
          <a:lstStyle/>
          <a:p>
            <a:fld id="{AAAFCB58-E0DF-4ACB-BDD8-A9ABCCCABE70}" type="datetime1">
              <a:rPr lang="ru-RU" smtClean="0"/>
              <a:pPr/>
              <a:t>13.04.2026</a:t>
            </a:fld>
            <a:endParaRPr lang="ru-RU"/>
          </a:p>
        </p:txBody>
      </p:sp>
      <p:sp>
        <p:nvSpPr>
          <p:cNvPr id="5" name="Нижний колонтитул 4">
            <a:extLst>
              <a:ext uri="{FF2B5EF4-FFF2-40B4-BE49-F238E27FC236}">
                <a16:creationId xmlns="" xmlns:a16="http://schemas.microsoft.com/office/drawing/2014/main" id="{57954E23-A4EE-F144-3549-D7137DBDAF8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 xmlns:a16="http://schemas.microsoft.com/office/drawing/2014/main" id="{DECF9303-AA51-68C8-AA1B-2E4AF76567C5}"/>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3903509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FD67F13A-DD86-99C8-88E9-4B05A75DFC5D}"/>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36F4EAEE-78F4-3785-654A-963CBA387BFA}"/>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 xmlns:a16="http://schemas.microsoft.com/office/drawing/2014/main" id="{635F9BE6-3E17-4D26-7712-EE2BB066700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 xmlns:a16="http://schemas.microsoft.com/office/drawing/2014/main" id="{4B32C32E-27CD-E755-CB9C-6FA3E03847B1}"/>
              </a:ext>
            </a:extLst>
          </p:cNvPr>
          <p:cNvSpPr>
            <a:spLocks noGrp="1"/>
          </p:cNvSpPr>
          <p:nvPr>
            <p:ph type="dt" sz="half" idx="10"/>
          </p:nvPr>
        </p:nvSpPr>
        <p:spPr/>
        <p:txBody>
          <a:bodyPr/>
          <a:lstStyle/>
          <a:p>
            <a:fld id="{8EA7D477-7B8D-41C5-BFF8-9E5D6DB03928}" type="datetime1">
              <a:rPr lang="ru-RU" smtClean="0"/>
              <a:pPr/>
              <a:t>13.04.2026</a:t>
            </a:fld>
            <a:endParaRPr lang="ru-RU"/>
          </a:p>
        </p:txBody>
      </p:sp>
      <p:sp>
        <p:nvSpPr>
          <p:cNvPr id="6" name="Нижний колонтитул 5">
            <a:extLst>
              <a:ext uri="{FF2B5EF4-FFF2-40B4-BE49-F238E27FC236}">
                <a16:creationId xmlns="" xmlns:a16="http://schemas.microsoft.com/office/drawing/2014/main" id="{EF399873-CC3E-2868-0CCE-54AD7BB15EE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 xmlns:a16="http://schemas.microsoft.com/office/drawing/2014/main" id="{642C6F04-DF22-73C3-863B-F53875DAB4EB}"/>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3588867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F8EBB794-3739-3A69-885F-4E42DEA9E21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 xmlns:a16="http://schemas.microsoft.com/office/drawing/2014/main" id="{708731F9-8C31-8DB4-324C-B71A91726B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 xmlns:a16="http://schemas.microsoft.com/office/drawing/2014/main" id="{31FB0D88-75A0-29D8-7983-8024C7E4A4C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 xmlns:a16="http://schemas.microsoft.com/office/drawing/2014/main" id="{F3B1FB5C-9789-C313-4442-4EB4E618EA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 xmlns:a16="http://schemas.microsoft.com/office/drawing/2014/main" id="{3D007D9A-0981-53CF-0736-B68BEF280FE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 xmlns:a16="http://schemas.microsoft.com/office/drawing/2014/main" id="{4B033504-2A60-DA93-10FA-4B3959805932}"/>
              </a:ext>
            </a:extLst>
          </p:cNvPr>
          <p:cNvSpPr>
            <a:spLocks noGrp="1"/>
          </p:cNvSpPr>
          <p:nvPr>
            <p:ph type="dt" sz="half" idx="10"/>
          </p:nvPr>
        </p:nvSpPr>
        <p:spPr/>
        <p:txBody>
          <a:bodyPr/>
          <a:lstStyle/>
          <a:p>
            <a:fld id="{1890EEBC-1CA4-4239-832F-882E77214F84}" type="datetime1">
              <a:rPr lang="ru-RU" smtClean="0"/>
              <a:pPr/>
              <a:t>13.04.2026</a:t>
            </a:fld>
            <a:endParaRPr lang="ru-RU"/>
          </a:p>
        </p:txBody>
      </p:sp>
      <p:sp>
        <p:nvSpPr>
          <p:cNvPr id="8" name="Нижний колонтитул 7">
            <a:extLst>
              <a:ext uri="{FF2B5EF4-FFF2-40B4-BE49-F238E27FC236}">
                <a16:creationId xmlns="" xmlns:a16="http://schemas.microsoft.com/office/drawing/2014/main" id="{E197C3BB-24B9-39B1-FEB1-92CC1BEAAF0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 xmlns:a16="http://schemas.microsoft.com/office/drawing/2014/main" id="{BC68062D-BEBF-BEAA-4087-C27F95A77661}"/>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584192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09897CED-13AD-FB8E-2140-F47B966E3AD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 xmlns:a16="http://schemas.microsoft.com/office/drawing/2014/main" id="{FBCA883D-8FE4-EBDD-C57B-A5933062A200}"/>
              </a:ext>
            </a:extLst>
          </p:cNvPr>
          <p:cNvSpPr>
            <a:spLocks noGrp="1"/>
          </p:cNvSpPr>
          <p:nvPr>
            <p:ph type="dt" sz="half" idx="10"/>
          </p:nvPr>
        </p:nvSpPr>
        <p:spPr/>
        <p:txBody>
          <a:bodyPr/>
          <a:lstStyle/>
          <a:p>
            <a:fld id="{09DE892A-ED16-495D-99FE-52BCA7DCAC7D}" type="datetime1">
              <a:rPr lang="ru-RU" smtClean="0"/>
              <a:pPr/>
              <a:t>13.04.2026</a:t>
            </a:fld>
            <a:endParaRPr lang="ru-RU"/>
          </a:p>
        </p:txBody>
      </p:sp>
      <p:sp>
        <p:nvSpPr>
          <p:cNvPr id="4" name="Нижний колонтитул 3">
            <a:extLst>
              <a:ext uri="{FF2B5EF4-FFF2-40B4-BE49-F238E27FC236}">
                <a16:creationId xmlns="" xmlns:a16="http://schemas.microsoft.com/office/drawing/2014/main" id="{C1C86C9B-5CCA-5424-8A3F-28F995E2CF1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 xmlns:a16="http://schemas.microsoft.com/office/drawing/2014/main" id="{ABEE94D4-7C91-8EF7-7136-31DE924F708E}"/>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3116869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 xmlns:a16="http://schemas.microsoft.com/office/drawing/2014/main" id="{282E9BA6-3AA5-E856-6E2E-219795874116}"/>
              </a:ext>
            </a:extLst>
          </p:cNvPr>
          <p:cNvSpPr>
            <a:spLocks noGrp="1"/>
          </p:cNvSpPr>
          <p:nvPr>
            <p:ph type="dt" sz="half" idx="10"/>
          </p:nvPr>
        </p:nvSpPr>
        <p:spPr/>
        <p:txBody>
          <a:bodyPr/>
          <a:lstStyle/>
          <a:p>
            <a:fld id="{CEB574E5-EEAB-4FE9-BEEE-7985C6235D3C}" type="datetime1">
              <a:rPr lang="ru-RU" smtClean="0"/>
              <a:pPr/>
              <a:t>13.04.2026</a:t>
            </a:fld>
            <a:endParaRPr lang="ru-RU"/>
          </a:p>
        </p:txBody>
      </p:sp>
      <p:sp>
        <p:nvSpPr>
          <p:cNvPr id="3" name="Нижний колонтитул 2">
            <a:extLst>
              <a:ext uri="{FF2B5EF4-FFF2-40B4-BE49-F238E27FC236}">
                <a16:creationId xmlns="" xmlns:a16="http://schemas.microsoft.com/office/drawing/2014/main" id="{711DAE24-D305-FEB7-2AD8-E41C9224A15D}"/>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 xmlns:a16="http://schemas.microsoft.com/office/drawing/2014/main" id="{FC4E6D7F-9DE8-54DD-3909-1C37E5280C3D}"/>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1854495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2D609FE7-FFBC-8617-F8E5-8F73F203AB3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 xmlns:a16="http://schemas.microsoft.com/office/drawing/2014/main" id="{79CF5276-D305-6BCE-3C2D-71D546078C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 xmlns:a16="http://schemas.microsoft.com/office/drawing/2014/main" id="{F5E1DA76-C579-C108-1F2F-F9756CBD5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 xmlns:a16="http://schemas.microsoft.com/office/drawing/2014/main" id="{70577EF7-B4A8-8F27-D948-E83686C9D1D2}"/>
              </a:ext>
            </a:extLst>
          </p:cNvPr>
          <p:cNvSpPr>
            <a:spLocks noGrp="1"/>
          </p:cNvSpPr>
          <p:nvPr>
            <p:ph type="dt" sz="half" idx="10"/>
          </p:nvPr>
        </p:nvSpPr>
        <p:spPr/>
        <p:txBody>
          <a:bodyPr/>
          <a:lstStyle/>
          <a:p>
            <a:fld id="{AB4FF650-428F-490B-A850-94D7EA679EB9}" type="datetime1">
              <a:rPr lang="ru-RU" smtClean="0"/>
              <a:pPr/>
              <a:t>13.04.2026</a:t>
            </a:fld>
            <a:endParaRPr lang="ru-RU"/>
          </a:p>
        </p:txBody>
      </p:sp>
      <p:sp>
        <p:nvSpPr>
          <p:cNvPr id="6" name="Нижний колонтитул 5">
            <a:extLst>
              <a:ext uri="{FF2B5EF4-FFF2-40B4-BE49-F238E27FC236}">
                <a16:creationId xmlns="" xmlns:a16="http://schemas.microsoft.com/office/drawing/2014/main" id="{A17FB3EA-A8C8-E629-7F62-4E887D6D342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 xmlns:a16="http://schemas.microsoft.com/office/drawing/2014/main" id="{2D363E42-9035-52B0-3415-7D2E45F4ADC7}"/>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1277217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BBD41E56-BDAD-CDB2-36FD-3740F6FCDD7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 xmlns:a16="http://schemas.microsoft.com/office/drawing/2014/main" id="{8BEE1CC2-6CED-137E-B36E-8714982C03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 xmlns:a16="http://schemas.microsoft.com/office/drawing/2014/main" id="{A9BCA39F-CAFB-5F6C-985F-C0671559F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 xmlns:a16="http://schemas.microsoft.com/office/drawing/2014/main" id="{9036AF0C-B70B-7B45-E6B7-B409AF0E574C}"/>
              </a:ext>
            </a:extLst>
          </p:cNvPr>
          <p:cNvSpPr>
            <a:spLocks noGrp="1"/>
          </p:cNvSpPr>
          <p:nvPr>
            <p:ph type="dt" sz="half" idx="10"/>
          </p:nvPr>
        </p:nvSpPr>
        <p:spPr/>
        <p:txBody>
          <a:bodyPr/>
          <a:lstStyle/>
          <a:p>
            <a:fld id="{F82C66FB-BC62-4119-99AC-E75FAF6521D0}" type="datetime1">
              <a:rPr lang="ru-RU" smtClean="0"/>
              <a:pPr/>
              <a:t>13.04.2026</a:t>
            </a:fld>
            <a:endParaRPr lang="ru-RU"/>
          </a:p>
        </p:txBody>
      </p:sp>
      <p:sp>
        <p:nvSpPr>
          <p:cNvPr id="6" name="Нижний колонтитул 5">
            <a:extLst>
              <a:ext uri="{FF2B5EF4-FFF2-40B4-BE49-F238E27FC236}">
                <a16:creationId xmlns="" xmlns:a16="http://schemas.microsoft.com/office/drawing/2014/main" id="{2A4F7E20-55EB-CF6D-760C-513C0FC5011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 xmlns:a16="http://schemas.microsoft.com/office/drawing/2014/main" id="{8A271C42-AA3D-27A8-42A5-1A54DC7E872B}"/>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61031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A368C166-7889-7193-5405-EF41BF4D5F9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 xmlns:a16="http://schemas.microsoft.com/office/drawing/2014/main" id="{6A9A17A7-17D4-4BB2-BC6B-2E9657890F8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A7322774-DFE2-D7F4-6B4C-4C401893C9A8}"/>
              </a:ext>
            </a:extLst>
          </p:cNvPr>
          <p:cNvSpPr>
            <a:spLocks noGrp="1"/>
          </p:cNvSpPr>
          <p:nvPr>
            <p:ph type="dt" sz="half" idx="10"/>
          </p:nvPr>
        </p:nvSpPr>
        <p:spPr/>
        <p:txBody>
          <a:bodyPr/>
          <a:lstStyle/>
          <a:p>
            <a:fld id="{43031671-8223-4661-88FD-C57A13DD5CFD}" type="datetime1">
              <a:rPr lang="ru-RU" smtClean="0"/>
              <a:pPr/>
              <a:t>13.04.2026</a:t>
            </a:fld>
            <a:endParaRPr lang="ru-RU"/>
          </a:p>
        </p:txBody>
      </p:sp>
      <p:sp>
        <p:nvSpPr>
          <p:cNvPr id="5" name="Нижний колонтитул 4">
            <a:extLst>
              <a:ext uri="{FF2B5EF4-FFF2-40B4-BE49-F238E27FC236}">
                <a16:creationId xmlns="" xmlns:a16="http://schemas.microsoft.com/office/drawing/2014/main" id="{88F1FBAC-13D3-778A-399A-FAB99EBDCCA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 xmlns:a16="http://schemas.microsoft.com/office/drawing/2014/main" id="{50665611-876C-908E-87EA-E1069F0066BE}"/>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828055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 xmlns:a16="http://schemas.microsoft.com/office/drawing/2014/main" id="{FE78E360-ABDA-7E27-B006-06ABA553C0A9}"/>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 xmlns:a16="http://schemas.microsoft.com/office/drawing/2014/main" id="{32D7E2F9-E744-721B-31AC-BD7EDC9878B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579E62B3-50EA-A3BE-9F01-570350E442D7}"/>
              </a:ext>
            </a:extLst>
          </p:cNvPr>
          <p:cNvSpPr>
            <a:spLocks noGrp="1"/>
          </p:cNvSpPr>
          <p:nvPr>
            <p:ph type="dt" sz="half" idx="10"/>
          </p:nvPr>
        </p:nvSpPr>
        <p:spPr/>
        <p:txBody>
          <a:bodyPr/>
          <a:lstStyle/>
          <a:p>
            <a:fld id="{973882FB-953A-4E01-9BBC-73BB37A66128}" type="datetime1">
              <a:rPr lang="ru-RU" smtClean="0"/>
              <a:pPr/>
              <a:t>13.04.2026</a:t>
            </a:fld>
            <a:endParaRPr lang="ru-RU"/>
          </a:p>
        </p:txBody>
      </p:sp>
      <p:sp>
        <p:nvSpPr>
          <p:cNvPr id="5" name="Нижний колонтитул 4">
            <a:extLst>
              <a:ext uri="{FF2B5EF4-FFF2-40B4-BE49-F238E27FC236}">
                <a16:creationId xmlns="" xmlns:a16="http://schemas.microsoft.com/office/drawing/2014/main" id="{ABFBF9C2-2AF5-2CF7-F8BB-D5998CF9F31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 xmlns:a16="http://schemas.microsoft.com/office/drawing/2014/main" id="{627AE0FD-A47F-A7EB-F9A9-575B18EDA3DF}"/>
              </a:ext>
            </a:extLst>
          </p:cNvPr>
          <p:cNvSpPr>
            <a:spLocks noGrp="1"/>
          </p:cNvSpPr>
          <p:nvPr>
            <p:ph type="sldNum" sz="quarter" idx="12"/>
          </p:nvPr>
        </p:nvSpPr>
        <p:spPr/>
        <p:txBody>
          <a:body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1829950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8648CDA1-E5E6-32E8-3A17-FB45DC0575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 xmlns:a16="http://schemas.microsoft.com/office/drawing/2014/main" id="{8241F1F1-9BC9-4C42-34FC-214C98360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DC683392-CF91-549D-3CF5-917F4840E8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584CC-C1D3-4732-B7ED-85112AD7AD0C}" type="datetime1">
              <a:rPr lang="ru-RU" smtClean="0"/>
              <a:pPr/>
              <a:t>13.04.2026</a:t>
            </a:fld>
            <a:endParaRPr lang="ru-RU"/>
          </a:p>
        </p:txBody>
      </p:sp>
      <p:sp>
        <p:nvSpPr>
          <p:cNvPr id="5" name="Нижний колонтитул 4">
            <a:extLst>
              <a:ext uri="{FF2B5EF4-FFF2-40B4-BE49-F238E27FC236}">
                <a16:creationId xmlns="" xmlns:a16="http://schemas.microsoft.com/office/drawing/2014/main" id="{1290BDC4-DB41-7388-FE3C-0CDC16CD0D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 xmlns:a16="http://schemas.microsoft.com/office/drawing/2014/main" id="{FA8D9364-8F53-C005-7D4C-F7F9888F1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56F792-9079-4C60-8E01-F3140190FD35}" type="slidenum">
              <a:rPr lang="ru-RU" smtClean="0"/>
              <a:pPr/>
              <a:t>‹#›</a:t>
            </a:fld>
            <a:endParaRPr lang="ru-RU"/>
          </a:p>
        </p:txBody>
      </p:sp>
    </p:spTree>
    <p:extLst>
      <p:ext uri="{BB962C8B-B14F-4D97-AF65-F5344CB8AC3E}">
        <p14:creationId xmlns="" xmlns:p14="http://schemas.microsoft.com/office/powerpoint/2010/main" val="1822815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7">
            <a:extLst>
              <a:ext uri="{FF2B5EF4-FFF2-40B4-BE49-F238E27FC236}">
                <a16:creationId xmlns="" xmlns:a16="http://schemas.microsoft.com/office/drawing/2014/main" id="{CE554FE2-66C7-739D-80A7-DDBBC7A28ACC}"/>
              </a:ext>
            </a:extLst>
          </p:cNvPr>
          <p:cNvSpPr>
            <a:spLocks noGrp="1"/>
          </p:cNvSpPr>
          <p:nvPr>
            <p:ph type="ctrTitle"/>
          </p:nvPr>
        </p:nvSpPr>
        <p:spPr>
          <a:xfrm>
            <a:off x="440267" y="2015067"/>
            <a:ext cx="11497733" cy="1524000"/>
          </a:xfrm>
        </p:spPr>
        <p:txBody>
          <a:bodyPr>
            <a:noAutofit/>
          </a:bodyPr>
          <a:lstStyle/>
          <a:p>
            <a:r>
              <a:rPr lang="ru-RU" sz="4000" b="1" dirty="0" smtClean="0">
                <a:latin typeface="Yu Gothic UI" pitchFamily="34" charset="-128"/>
                <a:ea typeface="Yu Gothic UI" pitchFamily="34" charset="-128"/>
              </a:rPr>
              <a:t>Мобильное приложение для распознавания подлинности банкнот</a:t>
            </a:r>
            <a:endParaRPr lang="ru-RU" sz="4000" b="1" dirty="0">
              <a:latin typeface="Yu Gothic UI" pitchFamily="34" charset="-128"/>
              <a:ea typeface="Yu Gothic UI" pitchFamily="34" charset="-128"/>
            </a:endParaRPr>
          </a:p>
        </p:txBody>
      </p:sp>
      <p:sp>
        <p:nvSpPr>
          <p:cNvPr id="5" name="Подзаголовок 8">
            <a:extLst>
              <a:ext uri="{FF2B5EF4-FFF2-40B4-BE49-F238E27FC236}">
                <a16:creationId xmlns="" xmlns:a16="http://schemas.microsoft.com/office/drawing/2014/main" id="{3F90AD9E-BF32-553E-CDB4-E13117DE991A}"/>
              </a:ext>
            </a:extLst>
          </p:cNvPr>
          <p:cNvSpPr>
            <a:spLocks noGrp="1"/>
          </p:cNvSpPr>
          <p:nvPr>
            <p:ph type="subTitle" idx="1"/>
          </p:nvPr>
        </p:nvSpPr>
        <p:spPr>
          <a:xfrm>
            <a:off x="5147734" y="4841793"/>
            <a:ext cx="6821824" cy="1787608"/>
          </a:xfrm>
        </p:spPr>
        <p:txBody>
          <a:bodyPr>
            <a:noAutofit/>
          </a:bodyPr>
          <a:lstStyle/>
          <a:p>
            <a:pPr algn="l">
              <a:spcBef>
                <a:spcPts val="0"/>
              </a:spcBef>
            </a:pPr>
            <a:r>
              <a:rPr lang="ru-RU" sz="1900" dirty="0" smtClean="0">
                <a:latin typeface="Yu Gothic UI" pitchFamily="34" charset="-128"/>
                <a:ea typeface="Yu Gothic UI" pitchFamily="34" charset="-128"/>
              </a:rPr>
              <a:t>Новожилов Александр Сергеевич</a:t>
            </a:r>
            <a:endParaRPr lang="en-US" sz="1900" dirty="0" smtClean="0">
              <a:latin typeface="Yu Gothic UI" pitchFamily="34" charset="-128"/>
              <a:ea typeface="Yu Gothic UI" pitchFamily="34" charset="-128"/>
            </a:endParaRPr>
          </a:p>
          <a:p>
            <a:pPr algn="l">
              <a:spcBef>
                <a:spcPts val="0"/>
              </a:spcBef>
            </a:pPr>
            <a:endParaRPr lang="ru-RU" sz="1900" dirty="0" smtClean="0">
              <a:latin typeface="Yu Gothic UI" pitchFamily="34" charset="-128"/>
              <a:ea typeface="Yu Gothic UI" pitchFamily="34" charset="-128"/>
            </a:endParaRPr>
          </a:p>
          <a:p>
            <a:pPr algn="l">
              <a:spcBef>
                <a:spcPts val="0"/>
              </a:spcBef>
            </a:pPr>
            <a:r>
              <a:rPr lang="ru-RU" sz="1800" dirty="0" smtClean="0">
                <a:latin typeface="Yu Gothic UI" pitchFamily="34" charset="-128"/>
                <a:ea typeface="Yu Gothic UI" pitchFamily="34" charset="-128"/>
              </a:rPr>
              <a:t>студент гр. ИТСИ-24-1м</a:t>
            </a:r>
          </a:p>
          <a:p>
            <a:pPr algn="l">
              <a:spcAft>
                <a:spcPts val="1200"/>
              </a:spcAft>
            </a:pPr>
            <a:r>
              <a:rPr lang="ru-RU" sz="1800" dirty="0" smtClean="0">
                <a:latin typeface="Yu Gothic UI" pitchFamily="34" charset="-128"/>
                <a:ea typeface="Yu Gothic UI" pitchFamily="34" charset="-128"/>
              </a:rPr>
              <a:t>Пермский национальный исследовательский политехнический университет</a:t>
            </a:r>
            <a:endParaRPr lang="ru-RU" sz="1800" dirty="0">
              <a:latin typeface="Yu Gothic UI" pitchFamily="34" charset="-128"/>
              <a:ea typeface="Yu Gothic UI" pitchFamily="34" charset="-128"/>
            </a:endParaRPr>
          </a:p>
        </p:txBody>
      </p:sp>
      <p:pic>
        <p:nvPicPr>
          <p:cNvPr id="7" name="Рисунок 6">
            <a:extLst>
              <a:ext uri="{FF2B5EF4-FFF2-40B4-BE49-F238E27FC236}">
                <a16:creationId xmlns="" xmlns:a16="http://schemas.microsoft.com/office/drawing/2014/main" id="{29EA162F-865F-70A6-631C-EA415B4A0C5C}"/>
              </a:ext>
            </a:extLst>
          </p:cNvPr>
          <p:cNvPicPr>
            <a:picLocks noChangeAspect="1"/>
          </p:cNvPicPr>
          <p:nvPr/>
        </p:nvPicPr>
        <p:blipFill>
          <a:blip r:embed="rId2" cstate="print">
            <a:duotone>
              <a:prstClr val="black"/>
              <a:schemeClr val="accent1">
                <a:tint val="45000"/>
                <a:satMod val="400000"/>
              </a:schemeClr>
            </a:duotone>
            <a:extLst>
              <a:ext uri="{BEBA8EAE-BF5A-486C-A8C5-ECC9F3942E4B}">
                <a14:imgProps xmlns="" xmlns:a14="http://schemas.microsoft.com/office/drawing/2010/main">
                  <a14:imgLayer r:embed="rId3">
                    <a14:imgEffect>
                      <a14:artisticGlowEdges/>
                    </a14:imgEffect>
                    <a14:imgEffect>
                      <a14:colorTemperature colorTemp="3876"/>
                    </a14:imgEffect>
                    <a14:imgEffect>
                      <a14:saturation sat="342000"/>
                    </a14:imgEffect>
                    <a14:imgEffect>
                      <a14:brightnessContrast bright="-40000" contrast="40000"/>
                    </a14:imgEffect>
                  </a14:imgLayer>
                </a14:imgProps>
              </a:ext>
            </a:extLst>
          </a:blip>
          <a:stretch/>
        </p:blipFill>
        <p:spPr bwMode="auto">
          <a:xfrm>
            <a:off x="9241655" y="94493"/>
            <a:ext cx="2760004" cy="701345"/>
          </a:xfrm>
          <a:prstGeom prst="rect">
            <a:avLst/>
          </a:prstGeom>
          <a:effectLst/>
        </p:spPr>
      </p:pic>
    </p:spTree>
    <p:extLst>
      <p:ext uri="{BB962C8B-B14F-4D97-AF65-F5344CB8AC3E}">
        <p14:creationId xmlns="" xmlns:p14="http://schemas.microsoft.com/office/powerpoint/2010/main" val="27793175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 xmlns:a16="http://schemas.microsoft.com/office/drawing/2014/main" id="{DB5825A0-31D9-25B6-0059-D3C90AB22669}"/>
              </a:ext>
            </a:extLst>
          </p:cNvPr>
          <p:cNvSpPr txBox="1"/>
          <p:nvPr/>
        </p:nvSpPr>
        <p:spPr bwMode="auto">
          <a:xfrm>
            <a:off x="2886573" y="161780"/>
            <a:ext cx="6399803" cy="584775"/>
          </a:xfrm>
          <a:prstGeom prst="rect">
            <a:avLst/>
          </a:prstGeom>
          <a:noFill/>
        </p:spPr>
        <p:txBody>
          <a:bodyPr wrap="square" rtlCol="0">
            <a:spAutoFit/>
          </a:bodyPr>
          <a:lstStyle/>
          <a:p>
            <a:pPr algn="ctr"/>
            <a:r>
              <a:rPr lang="ru-RU" sz="3200" b="1" dirty="0">
                <a:latin typeface="Yu Gothic UI" pitchFamily="34" charset="-128"/>
                <a:ea typeface="Yu Gothic UI" pitchFamily="34" charset="-128"/>
                <a:cs typeface="Roboto" panose="02000000000000000000" pitchFamily="2" charset="0"/>
              </a:rPr>
              <a:t>Актуальность</a:t>
            </a:r>
          </a:p>
        </p:txBody>
      </p:sp>
      <p:cxnSp>
        <p:nvCxnSpPr>
          <p:cNvPr id="11" name="Прямая соединительная линия 10">
            <a:extLst>
              <a:ext uri="{FF2B5EF4-FFF2-40B4-BE49-F238E27FC236}">
                <a16:creationId xmlns="" xmlns:a16="http://schemas.microsoft.com/office/drawing/2014/main" id="{F153822E-A68F-3477-7EB9-7DD0D138715F}"/>
              </a:ext>
            </a:extLst>
          </p:cNvPr>
          <p:cNvCxnSpPr>
            <a:cxnSpLocks/>
          </p:cNvCxnSpPr>
          <p:nvPr/>
        </p:nvCxnSpPr>
        <p:spPr>
          <a:xfrm>
            <a:off x="335710" y="924329"/>
            <a:ext cx="11501528" cy="0"/>
          </a:xfrm>
          <a:prstGeom prst="line">
            <a:avLst/>
          </a:prstGeom>
          <a:ln w="19050">
            <a:prstDash val="lgDashDotDot"/>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74624" y="1651000"/>
            <a:ext cx="5794375" cy="3785652"/>
          </a:xfrm>
          <a:prstGeom prst="rect">
            <a:avLst/>
          </a:prstGeom>
          <a:noFill/>
        </p:spPr>
        <p:txBody>
          <a:bodyPr wrap="square" rtlCol="0">
            <a:spAutoFit/>
          </a:bodyPr>
          <a:lstStyle/>
          <a:p>
            <a:pPr marL="109728" indent="0" algn="just">
              <a:buNone/>
            </a:pPr>
            <a:r>
              <a:rPr lang="ru-RU" sz="2400" dirty="0" smtClean="0">
                <a:latin typeface="Yu Gothic UI" pitchFamily="34" charset="-128"/>
                <a:ea typeface="Yu Gothic UI" pitchFamily="34" charset="-128"/>
              </a:rPr>
              <a:t>С развитием технологий подделка денежных банкнот становится все более изощренной. Фальшивые банкноты практически неотличимы от оригинальных. Традиционные методы проверки подлинности как правило требуют наличие специального оборудования, что делает процесс распознавания подлинности банкнот труднодоступным.</a:t>
            </a:r>
            <a:endParaRPr lang="ru-RU" sz="2400" dirty="0">
              <a:latin typeface="Yu Gothic UI" pitchFamily="34" charset="-128"/>
              <a:ea typeface="Yu Gothic UI" pitchFamily="34" charset="-128"/>
            </a:endParaRPr>
          </a:p>
        </p:txBody>
      </p:sp>
      <p:sp>
        <p:nvSpPr>
          <p:cNvPr id="19" name="Номер слайда 18"/>
          <p:cNvSpPr>
            <a:spLocks noGrp="1"/>
          </p:cNvSpPr>
          <p:nvPr>
            <p:ph type="sldNum" sz="quarter" idx="12"/>
          </p:nvPr>
        </p:nvSpPr>
        <p:spPr/>
        <p:txBody>
          <a:bodyPr/>
          <a:lstStyle/>
          <a:p>
            <a:fld id="{F156F792-9079-4C60-8E01-F3140190FD35}" type="slidenum">
              <a:rPr lang="ru-RU" sz="2400" smtClean="0"/>
              <a:pPr/>
              <a:t>2</a:t>
            </a:fld>
            <a:endParaRPr lang="ru-RU" sz="2400" dirty="0"/>
          </a:p>
        </p:txBody>
      </p:sp>
      <p:pic>
        <p:nvPicPr>
          <p:cNvPr id="12294" name="Picture 6" descr="Воронежцам рассказали, как определить поддельные купюры | АиФ Воронеж"/>
          <p:cNvPicPr>
            <a:picLocks noChangeAspect="1" noChangeArrowheads="1"/>
          </p:cNvPicPr>
          <p:nvPr/>
        </p:nvPicPr>
        <p:blipFill>
          <a:blip r:embed="rId3" cstate="print"/>
          <a:srcRect/>
          <a:stretch>
            <a:fillRect/>
          </a:stretch>
        </p:blipFill>
        <p:spPr bwMode="auto">
          <a:xfrm>
            <a:off x="6282267" y="1553633"/>
            <a:ext cx="5460999" cy="4048125"/>
          </a:xfrm>
          <a:prstGeom prst="rect">
            <a:avLst/>
          </a:prstGeom>
          <a:noFill/>
        </p:spPr>
      </p:pic>
    </p:spTree>
    <p:extLst>
      <p:ext uri="{BB962C8B-B14F-4D97-AF65-F5344CB8AC3E}">
        <p14:creationId xmlns="" xmlns:p14="http://schemas.microsoft.com/office/powerpoint/2010/main" val="2803027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1">
            <a:extLst>
              <a:ext uri="{FF2B5EF4-FFF2-40B4-BE49-F238E27FC236}">
                <a16:creationId xmlns="" xmlns:a16="http://schemas.microsoft.com/office/drawing/2014/main" id="{3B93E0C2-70D7-C2AB-9E16-DE8C15667614}"/>
              </a:ext>
            </a:extLst>
          </p:cNvPr>
          <p:cNvSpPr txBox="1">
            <a:spLocks/>
          </p:cNvSpPr>
          <p:nvPr/>
        </p:nvSpPr>
        <p:spPr>
          <a:xfrm>
            <a:off x="1981197" y="231112"/>
            <a:ext cx="8229600" cy="69269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200" b="1" dirty="0" smtClean="0">
                <a:latin typeface="Yu Gothic UI" pitchFamily="34" charset="-128"/>
                <a:ea typeface="Yu Gothic UI" pitchFamily="34" charset="-128"/>
                <a:cs typeface="Roboto" panose="02000000000000000000" pitchFamily="2" charset="0"/>
              </a:rPr>
              <a:t>Средства реализации</a:t>
            </a:r>
            <a:endParaRPr lang="ru-RU" sz="3200" b="1" dirty="0">
              <a:latin typeface="Yu Gothic UI" pitchFamily="34" charset="-128"/>
              <a:ea typeface="Yu Gothic UI" pitchFamily="34" charset="-128"/>
              <a:cs typeface="Roboto" panose="02000000000000000000" pitchFamily="2" charset="0"/>
            </a:endParaRPr>
          </a:p>
        </p:txBody>
      </p:sp>
      <p:cxnSp>
        <p:nvCxnSpPr>
          <p:cNvPr id="8" name="Прямая соединительная линия 7">
            <a:extLst>
              <a:ext uri="{FF2B5EF4-FFF2-40B4-BE49-F238E27FC236}">
                <a16:creationId xmlns="" xmlns:a16="http://schemas.microsoft.com/office/drawing/2014/main" id="{C08D6FB9-F0D8-50D6-624B-D491CFDE1FED}"/>
              </a:ext>
            </a:extLst>
          </p:cNvPr>
          <p:cNvCxnSpPr>
            <a:cxnSpLocks/>
          </p:cNvCxnSpPr>
          <p:nvPr/>
        </p:nvCxnSpPr>
        <p:spPr>
          <a:xfrm>
            <a:off x="345233" y="926086"/>
            <a:ext cx="11501528" cy="0"/>
          </a:xfrm>
          <a:prstGeom prst="line">
            <a:avLst/>
          </a:prstGeom>
          <a:ln w="19050">
            <a:prstDash val="lgDashDotDot"/>
          </a:ln>
        </p:spPr>
        <p:style>
          <a:lnRef idx="1">
            <a:schemeClr val="dk1"/>
          </a:lnRef>
          <a:fillRef idx="0">
            <a:schemeClr val="dk1"/>
          </a:fillRef>
          <a:effectRef idx="0">
            <a:schemeClr val="dk1"/>
          </a:effectRef>
          <a:fontRef idx="minor">
            <a:schemeClr val="tx1"/>
          </a:fontRef>
        </p:style>
      </p:cxnSp>
      <p:sp>
        <p:nvSpPr>
          <p:cNvPr id="9" name="Номер слайда 8"/>
          <p:cNvSpPr>
            <a:spLocks noGrp="1"/>
          </p:cNvSpPr>
          <p:nvPr>
            <p:ph type="sldNum" sz="quarter" idx="12"/>
          </p:nvPr>
        </p:nvSpPr>
        <p:spPr>
          <a:xfrm>
            <a:off x="8515066" y="6324600"/>
            <a:ext cx="2838734" cy="396875"/>
          </a:xfrm>
        </p:spPr>
        <p:txBody>
          <a:bodyPr/>
          <a:lstStyle/>
          <a:p>
            <a:fld id="{F156F792-9079-4C60-8E01-F3140190FD35}" type="slidenum">
              <a:rPr lang="ru-RU" sz="2400" smtClean="0"/>
              <a:pPr/>
              <a:t>3</a:t>
            </a:fld>
            <a:endParaRPr lang="ru-RU" sz="2400"/>
          </a:p>
        </p:txBody>
      </p:sp>
      <p:sp>
        <p:nvSpPr>
          <p:cNvPr id="7170" name="AutoShape 2" descr="Java Applications | Clever Clou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 name="AutoShape 2"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24" name="AutoShape 4"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26" name="AutoShape 6"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28" name="AutoShape 8"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30" name="AutoShape 10"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32" name="AutoShape 12"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34" name="AutoShape 14"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36" name="AutoShape 16"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38" name="AutoShape 18"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40" name="AutoShape 20"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42" name="AutoShape 22"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5150" name="Picture 30" descr="What is C++? - Viking Software A/S"/>
          <p:cNvPicPr>
            <a:picLocks noChangeAspect="1" noChangeArrowheads="1"/>
          </p:cNvPicPr>
          <p:nvPr/>
        </p:nvPicPr>
        <p:blipFill>
          <a:blip r:embed="rId2" cstate="print"/>
          <a:srcRect/>
          <a:stretch>
            <a:fillRect/>
          </a:stretch>
        </p:blipFill>
        <p:spPr bwMode="auto">
          <a:xfrm>
            <a:off x="1521881" y="3462864"/>
            <a:ext cx="2491319" cy="2491319"/>
          </a:xfrm>
          <a:prstGeom prst="rect">
            <a:avLst/>
          </a:prstGeom>
          <a:noFill/>
        </p:spPr>
      </p:pic>
      <p:sp>
        <p:nvSpPr>
          <p:cNvPr id="26626" name="AutoShape 2" descr="OpenCV — Википеди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6628" name="AutoShape 4" descr="OpenCV — Википеди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6630" name="Picture 6" descr="OpenCV — 20! Второй проект центра разработки Intel в России / Хабр"/>
          <p:cNvPicPr>
            <a:picLocks noChangeAspect="1" noChangeArrowheads="1"/>
          </p:cNvPicPr>
          <p:nvPr/>
        </p:nvPicPr>
        <p:blipFill>
          <a:blip r:embed="rId3" cstate="print"/>
          <a:srcRect/>
          <a:stretch>
            <a:fillRect/>
          </a:stretch>
        </p:blipFill>
        <p:spPr bwMode="auto">
          <a:xfrm>
            <a:off x="511176" y="941738"/>
            <a:ext cx="5906747" cy="2233262"/>
          </a:xfrm>
          <a:prstGeom prst="rect">
            <a:avLst/>
          </a:prstGeom>
          <a:noFill/>
        </p:spPr>
      </p:pic>
      <p:pic>
        <p:nvPicPr>
          <p:cNvPr id="1026" name="Picture 2"/>
          <p:cNvPicPr>
            <a:picLocks noChangeAspect="1" noChangeArrowheads="1"/>
          </p:cNvPicPr>
          <p:nvPr/>
        </p:nvPicPr>
        <p:blipFill>
          <a:blip r:embed="rId4" cstate="print"/>
          <a:srcRect/>
          <a:stretch>
            <a:fillRect/>
          </a:stretch>
        </p:blipFill>
        <p:spPr bwMode="auto">
          <a:xfrm>
            <a:off x="6951133" y="1275822"/>
            <a:ext cx="4772139" cy="1484311"/>
          </a:xfrm>
          <a:prstGeom prst="rect">
            <a:avLst/>
          </a:prstGeom>
          <a:noFill/>
          <a:ln w="9525">
            <a:noFill/>
            <a:miter lim="800000"/>
            <a:headEnd/>
            <a:tailEnd/>
          </a:ln>
        </p:spPr>
      </p:pic>
      <p:pic>
        <p:nvPicPr>
          <p:cNvPr id="10242" name="Picture 2" descr="SQLite - Wikipedia"/>
          <p:cNvPicPr>
            <a:picLocks noChangeAspect="1" noChangeArrowheads="1"/>
          </p:cNvPicPr>
          <p:nvPr/>
        </p:nvPicPr>
        <p:blipFill>
          <a:blip r:embed="rId5" cstate="print"/>
          <a:srcRect/>
          <a:stretch>
            <a:fillRect/>
          </a:stretch>
        </p:blipFill>
        <p:spPr bwMode="auto">
          <a:xfrm>
            <a:off x="8258176" y="3895196"/>
            <a:ext cx="3325078" cy="1582738"/>
          </a:xfrm>
          <a:prstGeom prst="rect">
            <a:avLst/>
          </a:prstGeom>
          <a:noFill/>
        </p:spPr>
      </p:pic>
      <p:sp>
        <p:nvSpPr>
          <p:cNvPr id="10244" name="AutoShape 4" descr="React Native Vector Logo - Download Free SVG Icon | Worldvector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46" name="AutoShape 6" descr="React Native Vector Logo - Download Free SVG Icon | Worldvector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0248" name="Picture 8" descr="React Native | iQuest"/>
          <p:cNvPicPr>
            <a:picLocks noChangeAspect="1" noChangeArrowheads="1"/>
          </p:cNvPicPr>
          <p:nvPr/>
        </p:nvPicPr>
        <p:blipFill>
          <a:blip r:embed="rId6" cstate="print"/>
          <a:srcRect/>
          <a:stretch>
            <a:fillRect/>
          </a:stretch>
        </p:blipFill>
        <p:spPr bwMode="auto">
          <a:xfrm>
            <a:off x="3677707" y="2942167"/>
            <a:ext cx="4972050" cy="3267075"/>
          </a:xfrm>
          <a:prstGeom prst="rect">
            <a:avLst/>
          </a:prstGeom>
          <a:noFill/>
        </p:spPr>
      </p:pic>
    </p:spTree>
    <p:extLst>
      <p:ext uri="{BB962C8B-B14F-4D97-AF65-F5344CB8AC3E}">
        <p14:creationId xmlns="" xmlns:p14="http://schemas.microsoft.com/office/powerpoint/2010/main" val="33665813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fld id="{F156F792-9079-4C60-8E01-F3140190FD35}" type="slidenum">
              <a:rPr lang="ru-RU" smtClean="0"/>
              <a:pPr/>
              <a:t>4</a:t>
            </a:fld>
            <a:endParaRPr lang="ru-RU"/>
          </a:p>
        </p:txBody>
      </p:sp>
      <p:cxnSp>
        <p:nvCxnSpPr>
          <p:cNvPr id="3" name="Прямая соединительная линия 2">
            <a:extLst>
              <a:ext uri="{FF2B5EF4-FFF2-40B4-BE49-F238E27FC236}">
                <a16:creationId xmlns="" xmlns:a16="http://schemas.microsoft.com/office/drawing/2014/main" id="{C08D6FB9-F0D8-50D6-624B-D491CFDE1FED}"/>
              </a:ext>
            </a:extLst>
          </p:cNvPr>
          <p:cNvCxnSpPr>
            <a:cxnSpLocks/>
          </p:cNvCxnSpPr>
          <p:nvPr/>
        </p:nvCxnSpPr>
        <p:spPr>
          <a:xfrm>
            <a:off x="345233" y="926086"/>
            <a:ext cx="11501528" cy="0"/>
          </a:xfrm>
          <a:prstGeom prst="line">
            <a:avLst/>
          </a:prstGeom>
          <a:ln w="19050">
            <a:prstDash val="lgDashDotDot"/>
          </a:ln>
        </p:spPr>
        <p:style>
          <a:lnRef idx="1">
            <a:schemeClr val="dk1"/>
          </a:lnRef>
          <a:fillRef idx="0">
            <a:schemeClr val="dk1"/>
          </a:fillRef>
          <a:effectRef idx="0">
            <a:schemeClr val="dk1"/>
          </a:effectRef>
          <a:fontRef idx="minor">
            <a:schemeClr val="tx1"/>
          </a:fontRef>
        </p:style>
      </p:cxnSp>
      <p:sp>
        <p:nvSpPr>
          <p:cNvPr id="5" name="Заголовок 21">
            <a:extLst>
              <a:ext uri="{FF2B5EF4-FFF2-40B4-BE49-F238E27FC236}">
                <a16:creationId xmlns="" xmlns:a16="http://schemas.microsoft.com/office/drawing/2014/main" id="{3B93E0C2-70D7-C2AB-9E16-DE8C15667614}"/>
              </a:ext>
            </a:extLst>
          </p:cNvPr>
          <p:cNvSpPr txBox="1">
            <a:spLocks/>
          </p:cNvSpPr>
          <p:nvPr/>
        </p:nvSpPr>
        <p:spPr>
          <a:xfrm>
            <a:off x="533400" y="231112"/>
            <a:ext cx="11235267" cy="69269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3200" b="1" dirty="0" smtClean="0">
                <a:latin typeface="Yu Gothic UI" pitchFamily="34" charset="-128"/>
                <a:ea typeface="Yu Gothic UI" pitchFamily="34" charset="-128"/>
                <a:cs typeface="Roboto" panose="02000000000000000000" pitchFamily="2" charset="0"/>
              </a:rPr>
              <a:t>Минимальные требования к мобильному устройству</a:t>
            </a:r>
            <a:endParaRPr lang="ru-RU" sz="3200" b="1" dirty="0">
              <a:latin typeface="Yu Gothic UI" pitchFamily="34" charset="-128"/>
              <a:ea typeface="Yu Gothic UI" pitchFamily="34" charset="-128"/>
              <a:cs typeface="Roboto" panose="02000000000000000000" pitchFamily="2" charset="0"/>
            </a:endParaRPr>
          </a:p>
        </p:txBody>
      </p:sp>
      <p:sp>
        <p:nvSpPr>
          <p:cNvPr id="6" name="Прямоугольник 5"/>
          <p:cNvSpPr/>
          <p:nvPr/>
        </p:nvSpPr>
        <p:spPr>
          <a:xfrm>
            <a:off x="228598" y="1112502"/>
            <a:ext cx="6502401" cy="5324535"/>
          </a:xfrm>
          <a:prstGeom prst="rect">
            <a:avLst/>
          </a:prstGeom>
        </p:spPr>
        <p:txBody>
          <a:bodyPr wrap="square">
            <a:spAutoFit/>
          </a:bodyPr>
          <a:lstStyle/>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4-ядерный процессор с частотой 1 ГГц;</a:t>
            </a:r>
            <a:endParaRPr lang="en-US"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Объем оперативной памяти 1 Гб</a:t>
            </a:r>
            <a:r>
              <a:rPr lang="en-US" sz="2000" dirty="0" smtClean="0">
                <a:solidFill>
                  <a:srgbClr val="000000"/>
                </a:solidFill>
                <a:latin typeface="Yu Gothic UI" pitchFamily="34" charset="-128"/>
                <a:ea typeface="Yu Gothic UI" pitchFamily="34" charset="-128"/>
                <a:cs typeface="Times New Roman" panose="02020603050405020304" pitchFamily="18" charset="0"/>
              </a:rPr>
              <a:t>;</a:t>
            </a:r>
          </a:p>
          <a:p>
            <a:pPr marL="457200" lvl="0" indent="-457200">
              <a:buFont typeface="+mj-lt"/>
              <a:buAutoNum type="arabicParenR"/>
            </a:pP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Объем постоянной памяти 300 Мб;</a:t>
            </a:r>
            <a:endParaRPr lang="en-US"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Камера с разрешением 5 Мп с </a:t>
            </a:r>
            <a:r>
              <a:rPr lang="ru-RU" sz="2000" dirty="0" err="1" smtClean="0">
                <a:solidFill>
                  <a:srgbClr val="000000"/>
                </a:solidFill>
                <a:latin typeface="Yu Gothic UI" pitchFamily="34" charset="-128"/>
                <a:ea typeface="Yu Gothic UI" pitchFamily="34" charset="-128"/>
                <a:cs typeface="Times New Roman" panose="02020603050405020304" pitchFamily="18" charset="0"/>
              </a:rPr>
              <a:t>автофокусом</a:t>
            </a:r>
            <a:r>
              <a:rPr lang="ru-RU" sz="2000" dirty="0" smtClean="0">
                <a:solidFill>
                  <a:srgbClr val="000000"/>
                </a:solidFill>
                <a:latin typeface="Yu Gothic UI" pitchFamily="34" charset="-128"/>
                <a:ea typeface="Yu Gothic UI" pitchFamily="34" charset="-128"/>
                <a:cs typeface="Times New Roman" panose="02020603050405020304" pitchFamily="18" charset="0"/>
              </a:rPr>
              <a:t> для определения номинала и модификации банкноты. Камера с разрешением 8 Мп с </a:t>
            </a:r>
            <a:r>
              <a:rPr lang="ru-RU" sz="2000" dirty="0" err="1" smtClean="0">
                <a:solidFill>
                  <a:srgbClr val="000000"/>
                </a:solidFill>
                <a:latin typeface="Yu Gothic UI" pitchFamily="34" charset="-128"/>
                <a:ea typeface="Yu Gothic UI" pitchFamily="34" charset="-128"/>
                <a:cs typeface="Times New Roman" panose="02020603050405020304" pitchFamily="18" charset="0"/>
              </a:rPr>
              <a:t>автофокусом</a:t>
            </a:r>
            <a:r>
              <a:rPr lang="ru-RU" sz="2000" dirty="0" smtClean="0">
                <a:solidFill>
                  <a:srgbClr val="000000"/>
                </a:solidFill>
                <a:latin typeface="Yu Gothic UI" pitchFamily="34" charset="-128"/>
                <a:ea typeface="Yu Gothic UI" pitchFamily="34" charset="-128"/>
                <a:cs typeface="Times New Roman" panose="02020603050405020304" pitchFamily="18" charset="0"/>
              </a:rPr>
              <a:t> и вспышкой для определения некоторых защитных признаков банкноты;</a:t>
            </a:r>
            <a:endParaRPr lang="en-US"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Разрешение экрана </a:t>
            </a:r>
            <a:r>
              <a:rPr lang="en-US" sz="2000" dirty="0" smtClean="0">
                <a:solidFill>
                  <a:srgbClr val="000000"/>
                </a:solidFill>
                <a:latin typeface="Yu Gothic UI" pitchFamily="34" charset="-128"/>
                <a:ea typeface="Yu Gothic UI" pitchFamily="34" charset="-128"/>
                <a:cs typeface="Times New Roman" panose="02020603050405020304" pitchFamily="18" charset="0"/>
              </a:rPr>
              <a:t>800x400</a:t>
            </a:r>
            <a:r>
              <a:rPr lang="ru-RU" sz="2000" dirty="0" smtClean="0">
                <a:solidFill>
                  <a:srgbClr val="000000"/>
                </a:solidFill>
                <a:latin typeface="Yu Gothic UI" pitchFamily="34" charset="-128"/>
                <a:ea typeface="Yu Gothic UI" pitchFamily="34" charset="-128"/>
                <a:cs typeface="Times New Roman" panose="02020603050405020304" pitchFamily="18" charset="0"/>
              </a:rPr>
              <a:t>;</a:t>
            </a:r>
            <a:endParaRPr lang="en-US"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Операционные системы </a:t>
            </a:r>
            <a:r>
              <a:rPr lang="en-US" sz="2000" dirty="0" smtClean="0">
                <a:solidFill>
                  <a:srgbClr val="000000"/>
                </a:solidFill>
                <a:latin typeface="Yu Gothic UI" pitchFamily="34" charset="-128"/>
                <a:ea typeface="Yu Gothic UI" pitchFamily="34" charset="-128"/>
                <a:cs typeface="Times New Roman" panose="02020603050405020304" pitchFamily="18" charset="0"/>
              </a:rPr>
              <a:t>Android </a:t>
            </a:r>
            <a:r>
              <a:rPr lang="ru-RU" sz="2000" dirty="0" smtClean="0">
                <a:solidFill>
                  <a:srgbClr val="000000"/>
                </a:solidFill>
                <a:latin typeface="Yu Gothic UI" pitchFamily="34" charset="-128"/>
                <a:ea typeface="Yu Gothic UI" pitchFamily="34" charset="-128"/>
                <a:cs typeface="Times New Roman" panose="02020603050405020304" pitchFamily="18" charset="0"/>
              </a:rPr>
              <a:t>версии 7, </a:t>
            </a:r>
            <a:r>
              <a:rPr lang="en-US" sz="2000" dirty="0" smtClean="0">
                <a:solidFill>
                  <a:srgbClr val="000000"/>
                </a:solidFill>
                <a:latin typeface="Yu Gothic UI" pitchFamily="34" charset="-128"/>
                <a:ea typeface="Yu Gothic UI" pitchFamily="34" charset="-128"/>
                <a:cs typeface="Times New Roman" panose="02020603050405020304" pitchFamily="18" charset="0"/>
              </a:rPr>
              <a:t>IOS 11;</a:t>
            </a: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endParaRPr lang="ru-RU" sz="2000" dirty="0" smtClean="0">
              <a:solidFill>
                <a:srgbClr val="000000"/>
              </a:solidFill>
              <a:latin typeface="Yu Gothic UI" pitchFamily="34" charset="-128"/>
              <a:ea typeface="Yu Gothic UI" pitchFamily="34" charset="-128"/>
              <a:cs typeface="Times New Roman" panose="02020603050405020304" pitchFamily="18" charset="0"/>
            </a:endParaRPr>
          </a:p>
          <a:p>
            <a:pPr marL="457200" lvl="0" indent="-457200">
              <a:buFont typeface="+mj-lt"/>
              <a:buAutoNum type="arabicParenR"/>
            </a:pPr>
            <a:r>
              <a:rPr lang="ru-RU" sz="2000" dirty="0" smtClean="0">
                <a:solidFill>
                  <a:srgbClr val="000000"/>
                </a:solidFill>
                <a:latin typeface="Yu Gothic UI" pitchFamily="34" charset="-128"/>
                <a:ea typeface="Yu Gothic UI" pitchFamily="34" charset="-128"/>
                <a:cs typeface="Times New Roman" panose="02020603050405020304" pitchFamily="18" charset="0"/>
              </a:rPr>
              <a:t>Освещенность не менее 750 люкс.</a:t>
            </a:r>
            <a:endParaRPr lang="ru-RU" sz="2000" dirty="0">
              <a:solidFill>
                <a:srgbClr val="000000"/>
              </a:solidFill>
              <a:latin typeface="Yu Gothic UI" pitchFamily="34" charset="-128"/>
              <a:ea typeface="Yu Gothic UI" pitchFamily="34" charset="-128"/>
              <a:cs typeface="Times New Roman" panose="02020603050405020304" pitchFamily="18" charset="0"/>
            </a:endParaRPr>
          </a:p>
        </p:txBody>
      </p:sp>
      <p:pic>
        <p:nvPicPr>
          <p:cNvPr id="1030" name="Picture 6" descr="Смартфон в руке. Рука бизнесмена держа мобильный телефон. Сотовый телефон в  руке шаблон для иллюстрации презентации приложения | Премиум вектор"/>
          <p:cNvPicPr>
            <a:picLocks noChangeAspect="1" noChangeArrowheads="1"/>
          </p:cNvPicPr>
          <p:nvPr/>
        </p:nvPicPr>
        <p:blipFill>
          <a:blip r:embed="rId2" cstate="print"/>
          <a:srcRect/>
          <a:stretch>
            <a:fillRect/>
          </a:stretch>
        </p:blipFill>
        <p:spPr bwMode="auto">
          <a:xfrm>
            <a:off x="7043208" y="1397000"/>
            <a:ext cx="4552950" cy="45529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 xmlns:a16="http://schemas.microsoft.com/office/drawing/2014/main" id="{DB5825A0-31D9-25B6-0059-D3C90AB22669}"/>
              </a:ext>
            </a:extLst>
          </p:cNvPr>
          <p:cNvSpPr txBox="1"/>
          <p:nvPr/>
        </p:nvSpPr>
        <p:spPr bwMode="auto">
          <a:xfrm>
            <a:off x="2886573" y="161780"/>
            <a:ext cx="6399803" cy="584775"/>
          </a:xfrm>
          <a:prstGeom prst="rect">
            <a:avLst/>
          </a:prstGeom>
          <a:noFill/>
        </p:spPr>
        <p:txBody>
          <a:bodyPr wrap="square" rtlCol="0">
            <a:spAutoFit/>
          </a:bodyPr>
          <a:lstStyle/>
          <a:p>
            <a:pPr algn="ctr"/>
            <a:r>
              <a:rPr lang="ru-RU" sz="3200" b="1" dirty="0" smtClean="0">
                <a:latin typeface="Yu Gothic UI" pitchFamily="34" charset="-128"/>
                <a:ea typeface="Yu Gothic UI" pitchFamily="34" charset="-128"/>
                <a:cs typeface="Roboto" panose="02000000000000000000" pitchFamily="2" charset="0"/>
              </a:rPr>
              <a:t>Проектирование</a:t>
            </a:r>
            <a:endParaRPr lang="ru-RU" sz="3200" b="1" dirty="0">
              <a:latin typeface="Yu Gothic UI" pitchFamily="34" charset="-128"/>
              <a:ea typeface="Yu Gothic UI" pitchFamily="34" charset="-128"/>
              <a:cs typeface="Roboto" panose="02000000000000000000" pitchFamily="2" charset="0"/>
            </a:endParaRPr>
          </a:p>
        </p:txBody>
      </p:sp>
      <p:cxnSp>
        <p:nvCxnSpPr>
          <p:cNvPr id="11" name="Прямая соединительная линия 10">
            <a:extLst>
              <a:ext uri="{FF2B5EF4-FFF2-40B4-BE49-F238E27FC236}">
                <a16:creationId xmlns="" xmlns:a16="http://schemas.microsoft.com/office/drawing/2014/main" id="{F153822E-A68F-3477-7EB9-7DD0D138715F}"/>
              </a:ext>
            </a:extLst>
          </p:cNvPr>
          <p:cNvCxnSpPr>
            <a:cxnSpLocks/>
          </p:cNvCxnSpPr>
          <p:nvPr/>
        </p:nvCxnSpPr>
        <p:spPr>
          <a:xfrm>
            <a:off x="335710" y="924329"/>
            <a:ext cx="11501528" cy="0"/>
          </a:xfrm>
          <a:prstGeom prst="line">
            <a:avLst/>
          </a:prstGeom>
          <a:ln w="19050">
            <a:prstDash val="lgDashDotDot"/>
          </a:ln>
        </p:spPr>
        <p:style>
          <a:lnRef idx="1">
            <a:schemeClr val="dk1"/>
          </a:lnRef>
          <a:fillRef idx="0">
            <a:schemeClr val="dk1"/>
          </a:fillRef>
          <a:effectRef idx="0">
            <a:schemeClr val="dk1"/>
          </a:effectRef>
          <a:fontRef idx="minor">
            <a:schemeClr val="tx1"/>
          </a:fontRef>
        </p:style>
      </p:cxnSp>
      <p:sp>
        <p:nvSpPr>
          <p:cNvPr id="15" name="Номер слайда 10"/>
          <p:cNvSpPr txBox="1">
            <a:spLocks/>
          </p:cNvSpPr>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F156F792-9079-4C60-8E01-F3140190FD35}" type="slidenum">
              <a:rPr kumimoji="0" lang="ru-RU" sz="24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ru-RU" sz="24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074" name="AutoShape 2" descr="Unity (game engin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76" name="AutoShape 4" descr="Unity (game engin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78" name="AutoShape 6" descr="Unity (game engin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0" name="AutoShape 8"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2" name="AutoShape 10"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4" name="AutoShape 12"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6" name="AutoShape 14"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8" name="AutoShape 16"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3" name="Скругленный прямоугольник 12"/>
          <p:cNvSpPr/>
          <p:nvPr/>
        </p:nvSpPr>
        <p:spPr>
          <a:xfrm>
            <a:off x="821268" y="1583267"/>
            <a:ext cx="10430932" cy="4546600"/>
          </a:xfrm>
          <a:prstGeom prst="roundRect">
            <a:avLst>
              <a:gd name="adj" fmla="val 12942"/>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b="1" dirty="0">
              <a:solidFill>
                <a:schemeClr val="tx1"/>
              </a:solidFill>
              <a:latin typeface="Yu Gothic UI" pitchFamily="34" charset="-128"/>
              <a:ea typeface="Yu Gothic UI" pitchFamily="34" charset="-128"/>
            </a:endParaRPr>
          </a:p>
        </p:txBody>
      </p:sp>
      <p:sp>
        <p:nvSpPr>
          <p:cNvPr id="14" name="TextBox 13"/>
          <p:cNvSpPr txBox="1"/>
          <p:nvPr/>
        </p:nvSpPr>
        <p:spPr>
          <a:xfrm>
            <a:off x="1148141" y="1693536"/>
            <a:ext cx="3869970" cy="461665"/>
          </a:xfrm>
          <a:prstGeom prst="rect">
            <a:avLst/>
          </a:prstGeom>
          <a:noFill/>
        </p:spPr>
        <p:txBody>
          <a:bodyPr wrap="none" rtlCol="0">
            <a:spAutoFit/>
          </a:bodyPr>
          <a:lstStyle/>
          <a:p>
            <a:pPr algn="ctr"/>
            <a:r>
              <a:rPr lang="en-US" sz="2400" b="1" dirty="0" smtClean="0">
                <a:latin typeface="Yu Gothic UI" pitchFamily="34" charset="-128"/>
                <a:ea typeface="Yu Gothic UI" pitchFamily="34" charset="-128"/>
              </a:rPr>
              <a:t>Mobile App (Android/IOS)</a:t>
            </a:r>
            <a:endParaRPr lang="ru-RU" sz="2400" b="1" dirty="0"/>
          </a:p>
        </p:txBody>
      </p:sp>
      <p:sp>
        <p:nvSpPr>
          <p:cNvPr id="16" name="Скругленный прямоугольник 15"/>
          <p:cNvSpPr/>
          <p:nvPr/>
        </p:nvSpPr>
        <p:spPr>
          <a:xfrm>
            <a:off x="1313390" y="3045883"/>
            <a:ext cx="1590676" cy="1019175"/>
          </a:xfrm>
          <a:prstGeom prst="roundRect">
            <a:avLst/>
          </a:prstGeom>
          <a:solidFill>
            <a:srgbClr val="FEC2C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Camera Module</a:t>
            </a:r>
          </a:p>
        </p:txBody>
      </p:sp>
      <p:sp>
        <p:nvSpPr>
          <p:cNvPr id="21" name="Скругленный прямоугольник 20"/>
          <p:cNvSpPr/>
          <p:nvPr/>
        </p:nvSpPr>
        <p:spPr>
          <a:xfrm>
            <a:off x="3548591" y="3054348"/>
            <a:ext cx="1692276" cy="984252"/>
          </a:xfrm>
          <a:prstGeom prst="roundRect">
            <a:avLst/>
          </a:prstGeom>
          <a:solidFill>
            <a:schemeClr val="accent5">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Detector</a:t>
            </a:r>
          </a:p>
        </p:txBody>
      </p:sp>
      <p:sp>
        <p:nvSpPr>
          <p:cNvPr id="22" name="TextBox 21"/>
          <p:cNvSpPr txBox="1"/>
          <p:nvPr/>
        </p:nvSpPr>
        <p:spPr>
          <a:xfrm>
            <a:off x="3624366" y="4877002"/>
            <a:ext cx="915636" cy="369332"/>
          </a:xfrm>
          <a:prstGeom prst="rect">
            <a:avLst/>
          </a:prstGeom>
          <a:noFill/>
        </p:spPr>
        <p:txBody>
          <a:bodyPr wrap="square" rtlCol="0">
            <a:spAutoFit/>
          </a:bodyPr>
          <a:lstStyle/>
          <a:p>
            <a:pPr algn="ctr"/>
            <a:endParaRPr lang="ru-RU" dirty="0"/>
          </a:p>
        </p:txBody>
      </p:sp>
      <p:sp>
        <p:nvSpPr>
          <p:cNvPr id="24" name="Скругленный прямоугольник 23"/>
          <p:cNvSpPr/>
          <p:nvPr/>
        </p:nvSpPr>
        <p:spPr>
          <a:xfrm>
            <a:off x="5834591" y="2148415"/>
            <a:ext cx="1836210" cy="696385"/>
          </a:xfrm>
          <a:prstGeom prst="roundRect">
            <a:avLst/>
          </a:prstGeom>
          <a:solidFill>
            <a:schemeClr val="accent6">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5000Front</a:t>
            </a:r>
          </a:p>
        </p:txBody>
      </p:sp>
      <p:sp>
        <p:nvSpPr>
          <p:cNvPr id="25" name="Скругленный прямоугольник 24"/>
          <p:cNvSpPr/>
          <p:nvPr/>
        </p:nvSpPr>
        <p:spPr>
          <a:xfrm>
            <a:off x="5859991" y="2978149"/>
            <a:ext cx="1836210" cy="696385"/>
          </a:xfrm>
          <a:prstGeom prst="roundRect">
            <a:avLst/>
          </a:prstGeom>
          <a:solidFill>
            <a:schemeClr val="accent6">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5000Back</a:t>
            </a:r>
          </a:p>
        </p:txBody>
      </p:sp>
      <p:sp>
        <p:nvSpPr>
          <p:cNvPr id="26" name="Скругленный прямоугольник 25"/>
          <p:cNvSpPr/>
          <p:nvPr/>
        </p:nvSpPr>
        <p:spPr>
          <a:xfrm>
            <a:off x="5876924" y="3884082"/>
            <a:ext cx="1836210" cy="696385"/>
          </a:xfrm>
          <a:prstGeom prst="roundRect">
            <a:avLst/>
          </a:prstGeom>
          <a:solidFill>
            <a:schemeClr val="accent6">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2000Front</a:t>
            </a:r>
          </a:p>
        </p:txBody>
      </p:sp>
      <p:sp>
        <p:nvSpPr>
          <p:cNvPr id="27" name="Скругленный прямоугольник 26"/>
          <p:cNvSpPr/>
          <p:nvPr/>
        </p:nvSpPr>
        <p:spPr>
          <a:xfrm>
            <a:off x="5876924" y="4815416"/>
            <a:ext cx="1836210" cy="696385"/>
          </a:xfrm>
          <a:prstGeom prst="roundRect">
            <a:avLst/>
          </a:prstGeom>
          <a:solidFill>
            <a:schemeClr val="accent6">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2000Back</a:t>
            </a:r>
          </a:p>
        </p:txBody>
      </p:sp>
      <p:sp>
        <p:nvSpPr>
          <p:cNvPr id="28" name="TextBox 27"/>
          <p:cNvSpPr txBox="1"/>
          <p:nvPr/>
        </p:nvSpPr>
        <p:spPr>
          <a:xfrm>
            <a:off x="5882218" y="5308599"/>
            <a:ext cx="1788582" cy="707886"/>
          </a:xfrm>
          <a:prstGeom prst="rect">
            <a:avLst/>
          </a:prstGeom>
          <a:noFill/>
        </p:spPr>
        <p:txBody>
          <a:bodyPr wrap="square" rtlCol="0">
            <a:spAutoFit/>
          </a:bodyPr>
          <a:lstStyle/>
          <a:p>
            <a:pPr algn="ctr"/>
            <a:r>
              <a:rPr lang="en-US" sz="4000" dirty="0" smtClean="0">
                <a:latin typeface="Yu Gothic UI" pitchFamily="34" charset="-128"/>
                <a:ea typeface="Yu Gothic UI" pitchFamily="34" charset="-128"/>
              </a:rPr>
              <a:t>……….</a:t>
            </a:r>
            <a:endParaRPr lang="ru-RU" sz="4000" dirty="0"/>
          </a:p>
        </p:txBody>
      </p:sp>
      <p:sp>
        <p:nvSpPr>
          <p:cNvPr id="29" name="Скругленный прямоугольник 28"/>
          <p:cNvSpPr/>
          <p:nvPr/>
        </p:nvSpPr>
        <p:spPr>
          <a:xfrm>
            <a:off x="2515658" y="4883148"/>
            <a:ext cx="1692276" cy="984252"/>
          </a:xfrm>
          <a:prstGeom prst="round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DB</a:t>
            </a:r>
          </a:p>
        </p:txBody>
      </p:sp>
      <p:sp>
        <p:nvSpPr>
          <p:cNvPr id="30" name="Скругленный прямоугольник 29"/>
          <p:cNvSpPr/>
          <p:nvPr/>
        </p:nvSpPr>
        <p:spPr>
          <a:xfrm>
            <a:off x="8679390" y="3147482"/>
            <a:ext cx="2073275" cy="984252"/>
          </a:xfrm>
          <a:prstGeom prst="roundRect">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Yu Gothic UI" pitchFamily="34" charset="-128"/>
                <a:ea typeface="Yu Gothic UI" pitchFamily="34" charset="-128"/>
              </a:rPr>
              <a:t>Recognition Lib</a:t>
            </a:r>
          </a:p>
        </p:txBody>
      </p:sp>
      <p:cxnSp>
        <p:nvCxnSpPr>
          <p:cNvPr id="31" name="Прямая со стрелкой 30"/>
          <p:cNvCxnSpPr>
            <a:stCxn id="16" idx="3"/>
            <a:endCxn id="21" idx="1"/>
          </p:cNvCxnSpPr>
          <p:nvPr/>
        </p:nvCxnSpPr>
        <p:spPr>
          <a:xfrm flipV="1">
            <a:off x="2904066" y="3546474"/>
            <a:ext cx="644525" cy="8997"/>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34" name="Прямая со стрелкой 33"/>
          <p:cNvCxnSpPr>
            <a:stCxn id="21" idx="3"/>
            <a:endCxn id="24" idx="1"/>
          </p:cNvCxnSpPr>
          <p:nvPr/>
        </p:nvCxnSpPr>
        <p:spPr>
          <a:xfrm flipV="1">
            <a:off x="5240867" y="2496608"/>
            <a:ext cx="593724" cy="1049866"/>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37" name="Прямая со стрелкой 36"/>
          <p:cNvCxnSpPr>
            <a:stCxn id="21" idx="3"/>
            <a:endCxn id="25" idx="1"/>
          </p:cNvCxnSpPr>
          <p:nvPr/>
        </p:nvCxnSpPr>
        <p:spPr>
          <a:xfrm flipV="1">
            <a:off x="5240867" y="3326342"/>
            <a:ext cx="619124" cy="220132"/>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40" name="Прямая со стрелкой 39"/>
          <p:cNvCxnSpPr>
            <a:stCxn id="21" idx="3"/>
            <a:endCxn id="26" idx="1"/>
          </p:cNvCxnSpPr>
          <p:nvPr/>
        </p:nvCxnSpPr>
        <p:spPr>
          <a:xfrm>
            <a:off x="5240867" y="3546474"/>
            <a:ext cx="636057" cy="685801"/>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43" name="Прямая со стрелкой 42"/>
          <p:cNvCxnSpPr>
            <a:stCxn id="21" idx="3"/>
            <a:endCxn id="27" idx="1"/>
          </p:cNvCxnSpPr>
          <p:nvPr/>
        </p:nvCxnSpPr>
        <p:spPr>
          <a:xfrm>
            <a:off x="5240867" y="3546474"/>
            <a:ext cx="636057" cy="1617135"/>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50" name="Прямая со стрелкой 49"/>
          <p:cNvCxnSpPr>
            <a:stCxn id="24" idx="3"/>
            <a:endCxn id="30" idx="1"/>
          </p:cNvCxnSpPr>
          <p:nvPr/>
        </p:nvCxnSpPr>
        <p:spPr>
          <a:xfrm>
            <a:off x="7670801" y="2496608"/>
            <a:ext cx="1008589" cy="114300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54" name="Прямая со стрелкой 53"/>
          <p:cNvCxnSpPr>
            <a:stCxn id="25" idx="3"/>
            <a:endCxn id="30" idx="1"/>
          </p:cNvCxnSpPr>
          <p:nvPr/>
        </p:nvCxnSpPr>
        <p:spPr>
          <a:xfrm>
            <a:off x="7696201" y="3326342"/>
            <a:ext cx="983189" cy="313266"/>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57" name="Прямая со стрелкой 56"/>
          <p:cNvCxnSpPr>
            <a:stCxn id="26" idx="3"/>
            <a:endCxn id="30" idx="1"/>
          </p:cNvCxnSpPr>
          <p:nvPr/>
        </p:nvCxnSpPr>
        <p:spPr>
          <a:xfrm flipV="1">
            <a:off x="7713134" y="3639608"/>
            <a:ext cx="966256" cy="592667"/>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60" name="Прямая со стрелкой 59"/>
          <p:cNvCxnSpPr>
            <a:stCxn id="27" idx="3"/>
            <a:endCxn id="30" idx="1"/>
          </p:cNvCxnSpPr>
          <p:nvPr/>
        </p:nvCxnSpPr>
        <p:spPr>
          <a:xfrm flipV="1">
            <a:off x="7713134" y="3639608"/>
            <a:ext cx="966256" cy="1524001"/>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35" name="Прямая со стрелкой 34"/>
          <p:cNvCxnSpPr>
            <a:stCxn id="21" idx="3"/>
          </p:cNvCxnSpPr>
          <p:nvPr/>
        </p:nvCxnSpPr>
        <p:spPr>
          <a:xfrm>
            <a:off x="5240867" y="3546474"/>
            <a:ext cx="609600" cy="2193926"/>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39" name="Прямая со стрелкой 38"/>
          <p:cNvCxnSpPr>
            <a:endCxn id="30" idx="1"/>
          </p:cNvCxnSpPr>
          <p:nvPr/>
        </p:nvCxnSpPr>
        <p:spPr>
          <a:xfrm flipV="1">
            <a:off x="7662334" y="3639608"/>
            <a:ext cx="1017056" cy="2116669"/>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pic>
        <p:nvPicPr>
          <p:cNvPr id="36" name="Picture 6" descr="OpenCV — 20! Второй проект центра разработки Intel в России / Хабр"/>
          <p:cNvPicPr>
            <a:picLocks noChangeAspect="1" noChangeArrowheads="1"/>
          </p:cNvPicPr>
          <p:nvPr/>
        </p:nvPicPr>
        <p:blipFill>
          <a:blip r:embed="rId3" cstate="print"/>
          <a:srcRect/>
          <a:stretch>
            <a:fillRect/>
          </a:stretch>
        </p:blipFill>
        <p:spPr bwMode="auto">
          <a:xfrm>
            <a:off x="8755656" y="2692401"/>
            <a:ext cx="1142066" cy="431800"/>
          </a:xfrm>
          <a:prstGeom prst="rect">
            <a:avLst/>
          </a:prstGeom>
          <a:noFill/>
        </p:spPr>
      </p:pic>
      <p:pic>
        <p:nvPicPr>
          <p:cNvPr id="38" name="Picture 30" descr="What is C++? - Viking Software A/S"/>
          <p:cNvPicPr>
            <a:picLocks noChangeAspect="1" noChangeArrowheads="1"/>
          </p:cNvPicPr>
          <p:nvPr/>
        </p:nvPicPr>
        <p:blipFill>
          <a:blip r:embed="rId4" cstate="print"/>
          <a:srcRect/>
          <a:stretch>
            <a:fillRect/>
          </a:stretch>
        </p:blipFill>
        <p:spPr bwMode="auto">
          <a:xfrm>
            <a:off x="10081680" y="2650066"/>
            <a:ext cx="467783" cy="467783"/>
          </a:xfrm>
          <a:prstGeom prst="rect">
            <a:avLst/>
          </a:prstGeom>
          <a:noFill/>
        </p:spPr>
      </p:pic>
      <p:pic>
        <p:nvPicPr>
          <p:cNvPr id="41" name="Picture 2"/>
          <p:cNvPicPr>
            <a:picLocks noChangeAspect="1" noChangeArrowheads="1"/>
          </p:cNvPicPr>
          <p:nvPr/>
        </p:nvPicPr>
        <p:blipFill>
          <a:blip r:embed="rId5" cstate="print"/>
          <a:srcRect/>
          <a:stretch>
            <a:fillRect/>
          </a:stretch>
        </p:blipFill>
        <p:spPr bwMode="auto">
          <a:xfrm>
            <a:off x="3700151" y="2698187"/>
            <a:ext cx="1015782" cy="315946"/>
          </a:xfrm>
          <a:prstGeom prst="rect">
            <a:avLst/>
          </a:prstGeom>
          <a:noFill/>
          <a:ln w="9525">
            <a:noFill/>
            <a:miter lim="800000"/>
            <a:headEnd/>
            <a:tailEnd/>
          </a:ln>
        </p:spPr>
      </p:pic>
      <p:pic>
        <p:nvPicPr>
          <p:cNvPr id="44" name="Picture 4" descr="EasyAR SDK - Компьютерное приложение для Mac, Windows (ПК) - WebCatalog"/>
          <p:cNvPicPr>
            <a:picLocks noChangeAspect="1" noChangeArrowheads="1"/>
          </p:cNvPicPr>
          <p:nvPr/>
        </p:nvPicPr>
        <p:blipFill>
          <a:blip r:embed="rId6" cstate="print"/>
          <a:srcRect l="26932" t="5850" r="26224" b="5850"/>
          <a:stretch>
            <a:fillRect/>
          </a:stretch>
        </p:blipFill>
        <p:spPr bwMode="auto">
          <a:xfrm>
            <a:off x="1424330" y="2599266"/>
            <a:ext cx="433444" cy="429229"/>
          </a:xfrm>
          <a:prstGeom prst="rect">
            <a:avLst/>
          </a:prstGeom>
          <a:noFill/>
        </p:spPr>
      </p:pic>
      <p:pic>
        <p:nvPicPr>
          <p:cNvPr id="4098" name="Picture 2" descr="SQLite - Wikipedia"/>
          <p:cNvPicPr>
            <a:picLocks noChangeAspect="1" noChangeArrowheads="1"/>
          </p:cNvPicPr>
          <p:nvPr/>
        </p:nvPicPr>
        <p:blipFill>
          <a:blip r:embed="rId7" cstate="print"/>
          <a:srcRect/>
          <a:stretch>
            <a:fillRect/>
          </a:stretch>
        </p:blipFill>
        <p:spPr bwMode="auto">
          <a:xfrm>
            <a:off x="2573867" y="4451401"/>
            <a:ext cx="928158" cy="441804"/>
          </a:xfrm>
          <a:prstGeom prst="rect">
            <a:avLst/>
          </a:prstGeom>
          <a:noFill/>
        </p:spPr>
      </p:pic>
      <p:pic>
        <p:nvPicPr>
          <p:cNvPr id="2" name="Picture 2" descr="React Native | iQuest"/>
          <p:cNvPicPr>
            <a:picLocks noChangeAspect="1" noChangeArrowheads="1"/>
          </p:cNvPicPr>
          <p:nvPr/>
        </p:nvPicPr>
        <p:blipFill>
          <a:blip r:embed="rId8" cstate="print"/>
          <a:srcRect/>
          <a:stretch>
            <a:fillRect/>
          </a:stretch>
        </p:blipFill>
        <p:spPr bwMode="auto">
          <a:xfrm>
            <a:off x="6240690" y="1634066"/>
            <a:ext cx="739282" cy="485774"/>
          </a:xfrm>
          <a:prstGeom prst="rect">
            <a:avLst/>
          </a:prstGeom>
          <a:noFill/>
        </p:spPr>
      </p:pic>
    </p:spTree>
    <p:extLst>
      <p:ext uri="{BB962C8B-B14F-4D97-AF65-F5344CB8AC3E}">
        <p14:creationId xmlns="" xmlns:p14="http://schemas.microsoft.com/office/powerpoint/2010/main" val="28030275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 xmlns:a16="http://schemas.microsoft.com/office/drawing/2014/main" id="{DB5825A0-31D9-25B6-0059-D3C90AB22669}"/>
              </a:ext>
            </a:extLst>
          </p:cNvPr>
          <p:cNvSpPr txBox="1"/>
          <p:nvPr/>
        </p:nvSpPr>
        <p:spPr bwMode="auto">
          <a:xfrm>
            <a:off x="2886573" y="161780"/>
            <a:ext cx="6399803" cy="584775"/>
          </a:xfrm>
          <a:prstGeom prst="rect">
            <a:avLst/>
          </a:prstGeom>
          <a:noFill/>
        </p:spPr>
        <p:txBody>
          <a:bodyPr wrap="square" rtlCol="0">
            <a:spAutoFit/>
          </a:bodyPr>
          <a:lstStyle/>
          <a:p>
            <a:pPr algn="ctr"/>
            <a:r>
              <a:rPr lang="ru-RU" sz="3200" b="1" dirty="0" smtClean="0">
                <a:latin typeface="Yu Gothic UI" pitchFamily="34" charset="-128"/>
                <a:ea typeface="Yu Gothic UI" pitchFamily="34" charset="-128"/>
                <a:cs typeface="Roboto" panose="02000000000000000000" pitchFamily="2" charset="0"/>
              </a:rPr>
              <a:t>Интерфейс</a:t>
            </a:r>
            <a:endParaRPr lang="ru-RU" sz="3200" b="1" dirty="0">
              <a:latin typeface="Yu Gothic UI" pitchFamily="34" charset="-128"/>
              <a:ea typeface="Yu Gothic UI" pitchFamily="34" charset="-128"/>
              <a:cs typeface="Roboto" panose="02000000000000000000" pitchFamily="2" charset="0"/>
            </a:endParaRPr>
          </a:p>
        </p:txBody>
      </p:sp>
      <p:cxnSp>
        <p:nvCxnSpPr>
          <p:cNvPr id="11" name="Прямая соединительная линия 10">
            <a:extLst>
              <a:ext uri="{FF2B5EF4-FFF2-40B4-BE49-F238E27FC236}">
                <a16:creationId xmlns="" xmlns:a16="http://schemas.microsoft.com/office/drawing/2014/main" id="{F153822E-A68F-3477-7EB9-7DD0D138715F}"/>
              </a:ext>
            </a:extLst>
          </p:cNvPr>
          <p:cNvCxnSpPr>
            <a:cxnSpLocks/>
          </p:cNvCxnSpPr>
          <p:nvPr/>
        </p:nvCxnSpPr>
        <p:spPr>
          <a:xfrm>
            <a:off x="335710" y="924329"/>
            <a:ext cx="11501528" cy="0"/>
          </a:xfrm>
          <a:prstGeom prst="line">
            <a:avLst/>
          </a:prstGeom>
          <a:ln w="19050">
            <a:prstDash val="lgDashDotDot"/>
          </a:ln>
        </p:spPr>
        <p:style>
          <a:lnRef idx="1">
            <a:schemeClr val="dk1"/>
          </a:lnRef>
          <a:fillRef idx="0">
            <a:schemeClr val="dk1"/>
          </a:fillRef>
          <a:effectRef idx="0">
            <a:schemeClr val="dk1"/>
          </a:effectRef>
          <a:fontRef idx="minor">
            <a:schemeClr val="tx1"/>
          </a:fontRef>
        </p:style>
      </p:cxnSp>
      <p:sp>
        <p:nvSpPr>
          <p:cNvPr id="15" name="Номер слайда 10"/>
          <p:cNvSpPr txBox="1">
            <a:spLocks/>
          </p:cNvSpPr>
          <p:nvPr/>
        </p:nvSpPr>
        <p:spPr>
          <a:xfrm>
            <a:off x="8610600" y="6356350"/>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F156F792-9079-4C60-8E01-F3140190FD35}" type="slidenum">
              <a:rPr kumimoji="0" lang="ru-RU" sz="24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ru-RU" sz="24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074" name="AutoShape 2" descr="Unity (game engin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76" name="AutoShape 4" descr="Unity (game engin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78" name="AutoShape 6" descr="Unity (game engin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0" name="AutoShape 8"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2" name="AutoShape 10"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4" name="AutoShape 12"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6" name="AutoShape 14"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088" name="AutoShape 16" descr="Unity vs Unreal: What to Choose in 202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33794" name="Picture 2" descr="https://sun9-14.userapi.com/s/v1/ig2/OEkYZs309zJ17UkIMhvXNZMb_r_ltRVWam2dz_M-jf_Ytkf40qZp4EETTjRmzx1wuMTua3hss0PdglwXFiIWUfnX.jpg?quality=95&amp;as=32x69,48x104,72x156,108x234,160x347,240x520,360x780,480x1040,540x1170,640x1387,720x1560,1080x2340&amp;from=bu&amp;u=NgxCApGnwI-WWjuhCfWagR9AbAP5WFL9AjJs7gWukkE&amp;cs=1080x0"/>
          <p:cNvPicPr>
            <a:picLocks noChangeAspect="1" noChangeArrowheads="1"/>
          </p:cNvPicPr>
          <p:nvPr/>
        </p:nvPicPr>
        <p:blipFill>
          <a:blip r:embed="rId3" cstate="print"/>
          <a:srcRect/>
          <a:stretch>
            <a:fillRect/>
          </a:stretch>
        </p:blipFill>
        <p:spPr bwMode="auto">
          <a:xfrm>
            <a:off x="9692217" y="1317625"/>
            <a:ext cx="2332648" cy="5054070"/>
          </a:xfrm>
          <a:prstGeom prst="rect">
            <a:avLst/>
          </a:prstGeom>
          <a:noFill/>
        </p:spPr>
      </p:pic>
      <p:pic>
        <p:nvPicPr>
          <p:cNvPr id="33796" name="Picture 4" descr="https://sun9-78.userapi.com/s/v1/ig2/m-thxYCRHiDViyV8XX91TVthFKQ_Q3mJ2xFA_5fkMyb4M38NsKg_UuVTxt__m-hWvq4oDp53PEaPAWdDaz1HyG3x.jpg?quality=95&amp;as=32x69,48x104,72x156,108x234,160x347,240x520,360x780,480x1040,540x1170,640x1387,720x1560,1080x2340&amp;from=bu&amp;cs=1080x0"/>
          <p:cNvPicPr>
            <a:picLocks noChangeAspect="1" noChangeArrowheads="1"/>
          </p:cNvPicPr>
          <p:nvPr/>
        </p:nvPicPr>
        <p:blipFill>
          <a:blip r:embed="rId4" cstate="print"/>
          <a:srcRect/>
          <a:stretch>
            <a:fillRect/>
          </a:stretch>
        </p:blipFill>
        <p:spPr bwMode="auto">
          <a:xfrm>
            <a:off x="114301" y="1287111"/>
            <a:ext cx="2288116" cy="4957586"/>
          </a:xfrm>
          <a:prstGeom prst="rect">
            <a:avLst/>
          </a:prstGeom>
          <a:noFill/>
        </p:spPr>
      </p:pic>
      <p:pic>
        <p:nvPicPr>
          <p:cNvPr id="33798" name="Picture 6" descr="https://sun9-82.userapi.com/s/v1/ig2/6qx5EEhljdB5lLtc5iwptpFo2QzMYU4nsD4K8BSCA1QK4VTVbzNo0jRO_07NOAiG2zf8xweQ0-MQ28HtkGHUrZdh.jpg?quality=95&amp;as=32x69,48x104,72x156,108x234,160x347,240x520,360x780,480x1040,540x1170,640x1387,720x1560,1080x2340&amp;from=bu&amp;cs=1080x0"/>
          <p:cNvPicPr>
            <a:picLocks noChangeAspect="1" noChangeArrowheads="1"/>
          </p:cNvPicPr>
          <p:nvPr/>
        </p:nvPicPr>
        <p:blipFill>
          <a:blip r:embed="rId5" cstate="print"/>
          <a:srcRect/>
          <a:stretch>
            <a:fillRect/>
          </a:stretch>
        </p:blipFill>
        <p:spPr bwMode="auto">
          <a:xfrm>
            <a:off x="2686051" y="1272649"/>
            <a:ext cx="2384424" cy="5166251"/>
          </a:xfrm>
          <a:prstGeom prst="rect">
            <a:avLst/>
          </a:prstGeom>
          <a:noFill/>
        </p:spPr>
      </p:pic>
      <p:pic>
        <p:nvPicPr>
          <p:cNvPr id="33800" name="Picture 8" descr="https://sun9-68.userapi.com/s/v1/ig2/sQ8wXIAhUeLUmq1O-__joRGESkVApEopQdbz_xyMKj_uGfOwHZD2OfoFjNV5t32umXNnTpsVcCJdrqHtyWoeydS_.jpg?quality=95&amp;as=32x15,48x22,72x33,108x50,160x74,240x111,360x166,480x222,540x249,640x295,720x332,1080x498,1280x591,1440x665,2340x1080&amp;from=bu&amp;cs=2340x0"/>
          <p:cNvPicPr>
            <a:picLocks noChangeAspect="1" noChangeArrowheads="1"/>
          </p:cNvPicPr>
          <p:nvPr/>
        </p:nvPicPr>
        <p:blipFill>
          <a:blip r:embed="rId6" cstate="print"/>
          <a:srcRect/>
          <a:stretch>
            <a:fillRect/>
          </a:stretch>
        </p:blipFill>
        <p:spPr bwMode="auto">
          <a:xfrm>
            <a:off x="5368925" y="2837717"/>
            <a:ext cx="4108450" cy="1896208"/>
          </a:xfrm>
          <a:prstGeom prst="rect">
            <a:avLst/>
          </a:prstGeom>
          <a:noFill/>
        </p:spPr>
      </p:pic>
      <p:cxnSp>
        <p:nvCxnSpPr>
          <p:cNvPr id="49" name="Прямая со стрелкой 48"/>
          <p:cNvCxnSpPr/>
          <p:nvPr/>
        </p:nvCxnSpPr>
        <p:spPr>
          <a:xfrm flipV="1">
            <a:off x="2389716" y="3590925"/>
            <a:ext cx="296334" cy="2647"/>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52" name="Прямая со стрелкой 51"/>
          <p:cNvCxnSpPr/>
          <p:nvPr/>
        </p:nvCxnSpPr>
        <p:spPr>
          <a:xfrm flipV="1">
            <a:off x="5066241" y="3571875"/>
            <a:ext cx="315384" cy="12172"/>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55" name="Прямая со стрелкой 54"/>
          <p:cNvCxnSpPr/>
          <p:nvPr/>
        </p:nvCxnSpPr>
        <p:spPr>
          <a:xfrm flipV="1">
            <a:off x="9457266" y="3533775"/>
            <a:ext cx="248709" cy="12172"/>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28030275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7">
            <a:extLst>
              <a:ext uri="{FF2B5EF4-FFF2-40B4-BE49-F238E27FC236}">
                <a16:creationId xmlns="" xmlns:a16="http://schemas.microsoft.com/office/drawing/2014/main" id="{DABC1F56-3CBF-F3A6-FB73-8AD18140403E}"/>
              </a:ext>
            </a:extLst>
          </p:cNvPr>
          <p:cNvSpPr txBox="1">
            <a:spLocks/>
          </p:cNvSpPr>
          <p:nvPr/>
        </p:nvSpPr>
        <p:spPr>
          <a:xfrm>
            <a:off x="1286164" y="3186465"/>
            <a:ext cx="10051761" cy="93610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800" b="1" dirty="0" smtClean="0">
                <a:latin typeface="Yu Gothic UI" pitchFamily="34" charset="-128"/>
                <a:ea typeface="Yu Gothic UI" pitchFamily="34" charset="-128"/>
              </a:rPr>
              <a:t>Мобильное приложение для распознавания подлинности банкнот</a:t>
            </a:r>
            <a:endParaRPr lang="ru-RU" sz="2800" b="1" dirty="0">
              <a:latin typeface="Roboto" pitchFamily="2" charset="0"/>
              <a:ea typeface="Roboto" pitchFamily="2" charset="0"/>
            </a:endParaRPr>
          </a:p>
        </p:txBody>
      </p:sp>
      <p:sp>
        <p:nvSpPr>
          <p:cNvPr id="3" name="Подзаголовок 8">
            <a:extLst>
              <a:ext uri="{FF2B5EF4-FFF2-40B4-BE49-F238E27FC236}">
                <a16:creationId xmlns="" xmlns:a16="http://schemas.microsoft.com/office/drawing/2014/main" id="{ED1952AE-B4C2-AEAF-F81D-3028C230244B}"/>
              </a:ext>
            </a:extLst>
          </p:cNvPr>
          <p:cNvSpPr txBox="1">
            <a:spLocks/>
          </p:cNvSpPr>
          <p:nvPr/>
        </p:nvSpPr>
        <p:spPr>
          <a:xfrm>
            <a:off x="181580" y="5144550"/>
            <a:ext cx="9768004" cy="13800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1800" b="1" dirty="0" smtClean="0">
                <a:latin typeface="Yu Gothic UI Light" pitchFamily="34" charset="-128"/>
                <a:ea typeface="Yu Gothic UI Light" pitchFamily="34" charset="-128"/>
              </a:rPr>
              <a:t>Новожилов Александр Сергеевич, ИТСИ-24-1м</a:t>
            </a:r>
          </a:p>
          <a:p>
            <a:pPr marL="0" indent="0">
              <a:buNone/>
            </a:pPr>
            <a:r>
              <a:rPr lang="ru-RU" sz="1800" dirty="0" smtClean="0">
                <a:latin typeface="Yu Gothic UI Light" pitchFamily="34" charset="-128"/>
                <a:ea typeface="Yu Gothic UI Light" pitchFamily="34" charset="-128"/>
              </a:rPr>
              <a:t/>
            </a:r>
            <a:br>
              <a:rPr lang="ru-RU" sz="1800" dirty="0" smtClean="0">
                <a:latin typeface="Yu Gothic UI Light" pitchFamily="34" charset="-128"/>
                <a:ea typeface="Yu Gothic UI Light" pitchFamily="34" charset="-128"/>
              </a:rPr>
            </a:br>
            <a:r>
              <a:rPr lang="ru-RU" sz="1800" b="1" dirty="0" smtClean="0">
                <a:latin typeface="Yu Gothic UI Light" pitchFamily="34" charset="-128"/>
                <a:ea typeface="Yu Gothic UI Light" pitchFamily="34" charset="-128"/>
              </a:rPr>
              <a:t/>
            </a:r>
            <a:br>
              <a:rPr lang="ru-RU" sz="1800" b="1" dirty="0" smtClean="0">
                <a:latin typeface="Yu Gothic UI Light" pitchFamily="34" charset="-128"/>
                <a:ea typeface="Yu Gothic UI Light" pitchFamily="34" charset="-128"/>
              </a:rPr>
            </a:br>
            <a:r>
              <a:rPr lang="ru-RU" sz="1800" b="1" dirty="0" smtClean="0">
                <a:latin typeface="Yu Gothic UI Light" pitchFamily="34" charset="-128"/>
                <a:ea typeface="Yu Gothic UI Light" pitchFamily="34" charset="-128"/>
              </a:rPr>
              <a:t>Пермский национальный исследовательский политехнический университет</a:t>
            </a:r>
            <a:endParaRPr lang="ru-RU" sz="1800" b="1" dirty="0">
              <a:latin typeface="Yu Gothic UI Light" pitchFamily="34" charset="-128"/>
              <a:ea typeface="Yu Gothic UI Light" pitchFamily="34" charset="-128"/>
            </a:endParaRPr>
          </a:p>
        </p:txBody>
      </p:sp>
      <p:sp>
        <p:nvSpPr>
          <p:cNvPr id="5" name="Заголовок 7">
            <a:extLst>
              <a:ext uri="{FF2B5EF4-FFF2-40B4-BE49-F238E27FC236}">
                <a16:creationId xmlns="" xmlns:a16="http://schemas.microsoft.com/office/drawing/2014/main" id="{1BDE4682-EE67-4373-3937-B7D8DF39DB02}"/>
              </a:ext>
            </a:extLst>
          </p:cNvPr>
          <p:cNvSpPr txBox="1">
            <a:spLocks/>
          </p:cNvSpPr>
          <p:nvPr/>
        </p:nvSpPr>
        <p:spPr>
          <a:xfrm>
            <a:off x="3251684" y="1983546"/>
            <a:ext cx="6901966" cy="86409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4800" b="1" dirty="0" smtClean="0">
                <a:latin typeface="Yu Gothic UI" pitchFamily="34" charset="-128"/>
                <a:ea typeface="Yu Gothic UI" pitchFamily="34" charset="-128"/>
              </a:rPr>
              <a:t>Спасибо </a:t>
            </a:r>
            <a:r>
              <a:rPr lang="ru-RU" sz="4800" b="1" dirty="0">
                <a:latin typeface="Yu Gothic UI" pitchFamily="34" charset="-128"/>
                <a:ea typeface="Yu Gothic UI" pitchFamily="34" charset="-128"/>
              </a:rPr>
              <a:t>за внимание!</a:t>
            </a:r>
          </a:p>
        </p:txBody>
      </p:sp>
      <p:pic>
        <p:nvPicPr>
          <p:cNvPr id="13" name="Рисунок 12">
            <a:extLst>
              <a:ext uri="{FF2B5EF4-FFF2-40B4-BE49-F238E27FC236}">
                <a16:creationId xmlns="" xmlns:a16="http://schemas.microsoft.com/office/drawing/2014/main" id="{29EA162F-865F-70A6-631C-EA415B4A0C5C}"/>
              </a:ext>
            </a:extLst>
          </p:cNvPr>
          <p:cNvPicPr>
            <a:picLocks noChangeAspect="1"/>
          </p:cNvPicPr>
          <p:nvPr/>
        </p:nvPicPr>
        <p:blipFill>
          <a:blip r:embed="rId2" cstate="print">
            <a:duotone>
              <a:prstClr val="black"/>
              <a:schemeClr val="accent1">
                <a:tint val="45000"/>
                <a:satMod val="400000"/>
              </a:schemeClr>
            </a:duotone>
            <a:extLst>
              <a:ext uri="{BEBA8EAE-BF5A-486C-A8C5-ECC9F3942E4B}">
                <a14:imgProps xmlns="" xmlns:a14="http://schemas.microsoft.com/office/drawing/2010/main">
                  <a14:imgLayer r:embed="rId3">
                    <a14:imgEffect>
                      <a14:artisticGlowEdges/>
                    </a14:imgEffect>
                    <a14:imgEffect>
                      <a14:colorTemperature colorTemp="3876"/>
                    </a14:imgEffect>
                    <a14:imgEffect>
                      <a14:saturation sat="342000"/>
                    </a14:imgEffect>
                    <a14:imgEffect>
                      <a14:brightnessContrast bright="-40000" contrast="40000"/>
                    </a14:imgEffect>
                  </a14:imgLayer>
                </a14:imgProps>
              </a:ext>
            </a:extLst>
          </a:blip>
          <a:stretch/>
        </p:blipFill>
        <p:spPr bwMode="auto">
          <a:xfrm>
            <a:off x="9241655" y="94493"/>
            <a:ext cx="2760004" cy="701345"/>
          </a:xfrm>
          <a:prstGeom prst="rect">
            <a:avLst/>
          </a:prstGeom>
          <a:effectLst/>
        </p:spPr>
      </p:pic>
    </p:spTree>
    <p:extLst>
      <p:ext uri="{BB962C8B-B14F-4D97-AF65-F5344CB8AC3E}">
        <p14:creationId xmlns="" xmlns:p14="http://schemas.microsoft.com/office/powerpoint/2010/main" val="4201332425"/>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3601</TotalTime>
  <Words>172</Words>
  <Application>Microsoft Office PowerPoint</Application>
  <PresentationFormat>Произвольный</PresentationFormat>
  <Paragraphs>46</Paragraphs>
  <Slides>7</Slides>
  <Notes>3</Notes>
  <HiddenSlides>0</HiddenSlides>
  <MMClips>0</MMClips>
  <ScaleCrop>false</ScaleCrop>
  <HeadingPairs>
    <vt:vector size="4" baseType="variant">
      <vt:variant>
        <vt:lpstr>Тема</vt:lpstr>
      </vt:variant>
      <vt:variant>
        <vt:i4>1</vt:i4>
      </vt:variant>
      <vt:variant>
        <vt:lpstr>Заголовки слайдов</vt:lpstr>
      </vt:variant>
      <vt:variant>
        <vt:i4>7</vt:i4>
      </vt:variant>
    </vt:vector>
  </HeadingPairs>
  <TitlesOfParts>
    <vt:vector size="8" baseType="lpstr">
      <vt:lpstr>Тема Office</vt:lpstr>
      <vt:lpstr>Мобильное приложение для распознавания подлинности банкнот</vt:lpstr>
      <vt:lpstr>Слайд 2</vt:lpstr>
      <vt:lpstr>Слайд 3</vt:lpstr>
      <vt:lpstr>Слайд 4</vt:lpstr>
      <vt:lpstr>Слайд 5</vt:lpstr>
      <vt:lpstr>Слайд 6</vt:lpstr>
      <vt:lpstr>Слайд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Приложение для визуализации и анализа результатов моделирования биомеханического узла. Подготовка и обработка данных</dc:title>
  <dc:creator>Александр</dc:creator>
  <cp:lastModifiedBy>novozhilov200014@gmail.com</cp:lastModifiedBy>
  <cp:revision>363</cp:revision>
  <dcterms:created xsi:type="dcterms:W3CDTF">2023-05-19T07:36:03Z</dcterms:created>
  <dcterms:modified xsi:type="dcterms:W3CDTF">2026-04-13T16:57:29Z</dcterms:modified>
</cp:coreProperties>
</file>